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7.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8.xml" ContentType="application/vnd.openxmlformats-officedocument.drawingml.chart+xml"/>
  <Override PartName="/ppt/slides/charts/chart9.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c38e492e8074165" /><Relationship Type="http://schemas.openxmlformats.org/officeDocument/2006/relationships/extended-properties" Target="/docProps/app.xml" Id="R75fc4523d5c14dd4" /><Relationship Type="http://schemas.openxmlformats.org/officeDocument/2006/relationships/officeDocument" Target="/ppt/presentation.xml" Id="R9590a48423324298" /></Relationships>
</file>

<file path=ppt/presentation.xml><?xml version="1.0" encoding="utf-8"?>
<p:presentation xmlns:p="http://schemas.openxmlformats.org/presentationml/2006/main">
  <p:sldMasterIdLst>
    <p:sldMasterId xmlns:r="http://schemas.openxmlformats.org/officeDocument/2006/relationships" id="2147483648" r:id="Rc6058d3d4ebc41f7"/>
  </p:sldMasterIdLst>
  <p:notesMasterIdLst>
    <p:notesMasterId xmlns:r="http://schemas.openxmlformats.org/officeDocument/2006/relationships" r:id="R104969fef2a748e4"/>
  </p:notesMasterIdLst>
  <p:sldIdLst>
    <p:sldId xmlns:r="http://schemas.openxmlformats.org/officeDocument/2006/relationships" id="256" r:id="R03b366e4014f4754"/>
    <p:sldId xmlns:r="http://schemas.openxmlformats.org/officeDocument/2006/relationships" id="257" r:id="R1667a4a93b2140b2"/>
    <p:sldId xmlns:r="http://schemas.openxmlformats.org/officeDocument/2006/relationships" id="258" r:id="Rd29076f6cbff4745"/>
    <p:sldId xmlns:r="http://schemas.openxmlformats.org/officeDocument/2006/relationships" id="259" r:id="R6278605f15864360"/>
    <p:sldId xmlns:r="http://schemas.openxmlformats.org/officeDocument/2006/relationships" id="260" r:id="R6c82e86878a24cd8"/>
    <p:sldId xmlns:r="http://schemas.openxmlformats.org/officeDocument/2006/relationships" id="261" r:id="R2649953490804cc5"/>
    <p:sldId xmlns:r="http://schemas.openxmlformats.org/officeDocument/2006/relationships" id="262" r:id="Radf2cea0ac464afa"/>
    <p:sldId xmlns:r="http://schemas.openxmlformats.org/officeDocument/2006/relationships" id="263" r:id="R4d3a6b55e3764065"/>
    <p:sldId xmlns:r="http://schemas.openxmlformats.org/officeDocument/2006/relationships" id="264" r:id="R964c5deb9bb14185"/>
    <p:sldId xmlns:r="http://schemas.openxmlformats.org/officeDocument/2006/relationships" id="265" r:id="R8976088bf8ba4764"/>
    <p:sldId xmlns:r="http://schemas.openxmlformats.org/officeDocument/2006/relationships" id="266" r:id="R2e162ac1b8154811"/>
    <p:sldId xmlns:r="http://schemas.openxmlformats.org/officeDocument/2006/relationships" id="267" r:id="Re8efdc77ba874d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02059939ac4f3f" /><Relationship Type="http://schemas.openxmlformats.org/officeDocument/2006/relationships/slideMaster" Target="/ppt/slideMasters/slideMaster1.xml" Id="Rc6058d3d4ebc41f7" /><Relationship Type="http://schemas.openxmlformats.org/officeDocument/2006/relationships/notesMaster" Target="/ppt/notesMasters/notesMaster1.xml" Id="R104969fef2a748e4" /><Relationship Type="http://schemas.openxmlformats.org/officeDocument/2006/relationships/presProps" Target="/ppt/presProps.xml" Id="Rbfa64f3ba47b4a7d" /><Relationship Type="http://schemas.openxmlformats.org/officeDocument/2006/relationships/tableStyles" Target="/ppt/tableStyles.xml" Id="R636febc766ac4e6c" /><Relationship Type="http://schemas.openxmlformats.org/officeDocument/2006/relationships/slide" Target="/ppt/slides/slide1.xml" Id="R03b366e4014f4754" /><Relationship Type="http://schemas.openxmlformats.org/officeDocument/2006/relationships/slide" Target="/ppt/slides/slide2.xml" Id="R1667a4a93b2140b2" /><Relationship Type="http://schemas.openxmlformats.org/officeDocument/2006/relationships/slide" Target="/ppt/slides/slide3.xml" Id="Rd29076f6cbff4745" /><Relationship Type="http://schemas.openxmlformats.org/officeDocument/2006/relationships/slide" Target="/ppt/slides/slide4.xml" Id="R6278605f15864360" /><Relationship Type="http://schemas.openxmlformats.org/officeDocument/2006/relationships/slide" Target="/ppt/slides/slide5.xml" Id="R6c82e86878a24cd8" /><Relationship Type="http://schemas.openxmlformats.org/officeDocument/2006/relationships/slide" Target="/ppt/slides/slide6.xml" Id="R2649953490804cc5" /><Relationship Type="http://schemas.openxmlformats.org/officeDocument/2006/relationships/slide" Target="/ppt/slides/slide7.xml" Id="Radf2cea0ac464afa" /><Relationship Type="http://schemas.openxmlformats.org/officeDocument/2006/relationships/slide" Target="/ppt/slides/slide8.xml" Id="R4d3a6b55e3764065" /><Relationship Type="http://schemas.openxmlformats.org/officeDocument/2006/relationships/slide" Target="/ppt/slides/slide9.xml" Id="R964c5deb9bb14185" /><Relationship Type="http://schemas.openxmlformats.org/officeDocument/2006/relationships/slide" Target="/ppt/slides/slide10.xml" Id="R8976088bf8ba4764" /><Relationship Type="http://schemas.openxmlformats.org/officeDocument/2006/relationships/slide" Target="/ppt/slides/slide11.xml" Id="R2e162ac1b8154811" /><Relationship Type="http://schemas.openxmlformats.org/officeDocument/2006/relationships/slide" Target="/ppt/slides/slide12.xml" Id="Re8efdc77ba874d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239a6806354f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80b62be9d84206" /><Relationship Type="http://schemas.openxmlformats.org/officeDocument/2006/relationships/notesMaster" Target="/ppt/notesMasters/notesMaster1.xml" Id="Ra39338704c5943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67ca715ca3486e" /><Relationship Type="http://schemas.openxmlformats.org/officeDocument/2006/relationships/notesMaster" Target="/ppt/notesMasters/notesMaster1.xml" Id="R11d5c25c5c9646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4f3570b8974597" /><Relationship Type="http://schemas.openxmlformats.org/officeDocument/2006/relationships/notesMaster" Target="/ppt/notesMasters/notesMaster1.xml" Id="R2f689cbfa5f445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669f4573cf4db3" /><Relationship Type="http://schemas.openxmlformats.org/officeDocument/2006/relationships/notesMaster" Target="/ppt/notesMasters/notesMaster1.xml" Id="R23082d13517842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9e73c2fad447b7" /><Relationship Type="http://schemas.openxmlformats.org/officeDocument/2006/relationships/notesMaster" Target="/ppt/notesMasters/notesMaster1.xml" Id="Rbe790891381f47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089f9079f942b3" /><Relationship Type="http://schemas.openxmlformats.org/officeDocument/2006/relationships/notesMaster" Target="/ppt/notesMasters/notesMaster1.xml" Id="Rd18a5d4f882642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08b43aee8e4c95" /><Relationship Type="http://schemas.openxmlformats.org/officeDocument/2006/relationships/notesMaster" Target="/ppt/notesMasters/notesMaster1.xml" Id="Re55560d3cc7d4f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28cecec0134f10" /><Relationship Type="http://schemas.openxmlformats.org/officeDocument/2006/relationships/notesMaster" Target="/ppt/notesMasters/notesMaster1.xml" Id="Rad54e5b32c5f46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129fe0be673840d1" /><Relationship Type="http://schemas.openxmlformats.org/officeDocument/2006/relationships/notesMaster" Target="/ppt/notesMasters/notesMaster1.xml" Id="R7d3ec6d70e514e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f8bc3688d64f7d" /><Relationship Type="http://schemas.openxmlformats.org/officeDocument/2006/relationships/notesMaster" Target="/ppt/notesMasters/notesMaster1.xml" Id="Re97c2e42888144d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548b69624c463a" /><Relationship Type="http://schemas.openxmlformats.org/officeDocument/2006/relationships/notesMaster" Target="/ppt/notesMasters/notesMaster1.xml" Id="R8a7cdde23306402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a6f7b8971b4e38" /><Relationship Type="http://schemas.openxmlformats.org/officeDocument/2006/relationships/notesMaster" Target="/ppt/notesMasters/notesMaster1.xml" Id="R756a9f0df35c4f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Zion Tech Hub Cohort 9 and Cohort 10 registration exports supplied in the workspace. The brief references three cohorts, but the supplied folder contains two registration exports: Cohorts 9 and 10. Registration counts are registrations, not paid conversions. Occupation is available only in Cohort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Zion Tech Hub Cohort 9 and Cohort 10 registration exports supplied in the workspace.  Registration counts are registrations, not paid conversions. Occupation is available only in Cohort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Zion Tech Hub Cohort 9 and Cohort 10 registration exports supplied in the workspace. The budget is an evidence-led first-test recommendation. Spend, CPC, CAC, payment and downstream enrollment were not supplied, so the data cannot prove ROI by channel. Registration counts are registrations, not paid conversions. Occupation is available only in Cohort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Zion Tech Hub Cohort 9 and Cohort 10 registration exports supplied in the workspace. Cohort mix is compared using channel share rather than raw volume because the source windows differ. This is a registration attribution signal, not a conversion-rate estimate. Registration counts are registrations, not paid conversions. Occupation is available only in Cohort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Zion Tech Hub Cohort 9 and Cohort 10 registration exports supplied in the workspace. The four bars show the top two registration dates in each cohort. The source does not show what message or campaign caused each burst. Registration counts are registrations, not paid conversions. Occupation is available only in Cohort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Zion Tech Hub Cohort 9 and Cohort 10 registration exports supplied in the workspace. Data Science &amp; AI and Data Science &amp; ML remain separate cleaned Course labels but share a Course Family for continuity analysis. Registration counts are registrations, not paid conversions. Occupation is available only in Cohort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Zion Tech Hub Cohort 9 and Cohort 10 registration exports supplied in the workspace. Occupation was captured only in Cohort 10. The long-tail Other segment contains 58 rows, so occupation targeting should use the known clusters as tests rather than assume the long tail is one audience. Registration counts are registrations, not paid conversions. Occupation is available only in Cohort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Zion Tech Hub Cohort 9 and Cohort 10 registration exports supplied in the workspace. The occupation match is directional: free-text occupations and course choices are not one-to-one fields. The implication is to lead with course outcomes and test adjacent job-title audiences, not restrict reach to exact occupation matches. Registration counts are registrations, not paid conversions. Occupation is available only in Cohort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Zion Tech Hub Cohort 9 and Cohort 10 registration exports supplied in the workspace. Timing is treated as an operational scheduling signal. The exports cannot separate user behavior from the timing of any underlying organic posts or campaign pushes. Registration counts are registrations, not paid conversions. Occupation is available only in Cohort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Zion Tech Hub Cohort 9 and Cohort 10 registration exports supplied in the workspace.  Registration counts are registrations, not paid conversions. Occupation is available only in Cohort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Zion Tech Hub Cohort 9 and Cohort 10 registration exports supplied in the workspace.  Registration counts are registrations, not paid conversions. Occupation is available only in Cohort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Zion Tech Hub Cohort 9 and Cohort 10 registration exports supplied in the workspace. The cleaning assumptions and rules are documented in the accompanying workbook's Cleaning Log tab and the Power BI project README. Registration counts are registrations, not paid conversions. Occupation is available only in Cohort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c12fec018343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07b4604083421d" /><Relationship Type="http://schemas.openxmlformats.org/officeDocument/2006/relationships/slideLayout" Target="/ppt/slideLayouts/slideLayout1.xml" Id="R1b554359f19d44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554359f19d44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72206a99f446f3" /><Relationship Type="http://schemas.openxmlformats.org/officeDocument/2006/relationships/notesSlide" Target="/ppt/notesSlides/notesSlide1.xml" Id="R4b1483cfcc9042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99857ca7fa9448a" /><Relationship Type="http://schemas.openxmlformats.org/officeDocument/2006/relationships/notesSlide" Target="/ppt/notesSlides/notesSlide2.xml" Id="Rb82e27c5e41a45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0315e168f614f99" /><Relationship Type="http://schemas.openxmlformats.org/officeDocument/2006/relationships/chart" Target="/ppt/slides/charts/chart1.xml" Id="R8e73e070482b41e2" /><Relationship Type="http://schemas.openxmlformats.org/officeDocument/2006/relationships/notesSlide" Target="/ppt/notesSlides/notesSlide3.xml" Id="R08a52e629d204f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4a12cdb6214402" /><Relationship Type="http://schemas.openxmlformats.org/officeDocument/2006/relationships/chart" Target="/ppt/slides/charts/chart2.xml" Id="R1aa5622050834263" /><Relationship Type="http://schemas.openxmlformats.org/officeDocument/2006/relationships/notesSlide" Target="/ppt/notesSlides/notesSlide4.xml" Id="Rc273ccc3666c4a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e06186a4dd94b8f" /><Relationship Type="http://schemas.openxmlformats.org/officeDocument/2006/relationships/chart" Target="/ppt/slides/charts/chart3.xml" Id="R1a4df82907724c82" /><Relationship Type="http://schemas.openxmlformats.org/officeDocument/2006/relationships/notesSlide" Target="/ppt/notesSlides/notesSlide5.xml" Id="Rd9779edbc2f147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e80a3b85ceb4363" /><Relationship Type="http://schemas.openxmlformats.org/officeDocument/2006/relationships/chart" Target="/ppt/slides/charts/chart4.xml" Id="R984ab50f09ee4d4e" /><Relationship Type="http://schemas.openxmlformats.org/officeDocument/2006/relationships/notesSlide" Target="/ppt/notesSlides/notesSlide6.xml" Id="R003dc272a9034b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1676b0da31c4787" /><Relationship Type="http://schemas.openxmlformats.org/officeDocument/2006/relationships/chart" Target="/ppt/slides/charts/chart5.xml" Id="R8d3a2bdea69c4803" /><Relationship Type="http://schemas.openxmlformats.org/officeDocument/2006/relationships/chart" Target="/ppt/slides/charts/chart6.xml" Id="R2586b9f311444edb" /><Relationship Type="http://schemas.openxmlformats.org/officeDocument/2006/relationships/notesSlide" Target="/ppt/notesSlides/notesSlide7.xml" Id="Ra4a9ff713e5443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11e4f7b6d44ba2" /><Relationship Type="http://schemas.openxmlformats.org/officeDocument/2006/relationships/chart" Target="/ppt/slides/charts/chart7.xml" Id="R07cc46d9c7f04d6a" /><Relationship Type="http://schemas.openxmlformats.org/officeDocument/2006/relationships/notesSlide" Target="/ppt/notesSlides/notesSlide8.xml" Id="R500c35d2178e44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477153546354234" /><Relationship Type="http://schemas.openxmlformats.org/officeDocument/2006/relationships/chart" Target="/ppt/slides/charts/chart8.xml" Id="R23af8b52275a4399" /><Relationship Type="http://schemas.openxmlformats.org/officeDocument/2006/relationships/chart" Target="/ppt/slides/charts/chart9.xml" Id="R089f9d74a7454a9f" /><Relationship Type="http://schemas.openxmlformats.org/officeDocument/2006/relationships/notesSlide" Target="/ppt/notesSlides/notesSlide9.xml" Id="R40a1671717d2483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24f3fb083e24f93" /><Relationship Type="http://schemas.openxmlformats.org/officeDocument/2006/relationships/notesSlide" Target="/ppt/notesSlides/notesSlide10.xml" Id="R24b1d189f6ea40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1da23f15ced4ed9" /><Relationship Type="http://schemas.openxmlformats.org/officeDocument/2006/relationships/notesSlide" Target="/ppt/notesSlides/notesSlide11.xml" Id="Refb5f2bcc6de42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3dd2746fbea41f6" /><Relationship Type="http://schemas.openxmlformats.org/officeDocument/2006/relationships/notesSlide" Target="/ppt/notesSlides/notesSlide12.xml" Id="Ra917ca81cb074ef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a:latin typeface="Arial"/>
                <a:ea typeface="Arial"/>
                <a:cs typeface="Arial"/>
              </a:rPr>
              <a:t>Recommended first-test allocation</a:t>
            </a:r>
          </a:p>
        </c:rich>
      </c:tx>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title>
    <c:plotArea>
      <c:barChart>
        <c:barDir val="bar"/>
        <c:grouping val="clustered"/>
        <c:varyColors val="0"/>
        <c:ser>
          <c:idx val="0"/>
          <c:order val="0"/>
          <c:tx>
            <c:v>Share</c:v>
          </c:tx>
          <c:spPr>
            <a:solidFill xmlns:a="http://schemas.openxmlformats.org/drawingml/2006/main">
              <a:srgbClr val="C4523C"/>
            </a:solidFill>
          </c:spPr>
          <c:cat>
            <c:strRef>
              <c:f>'Chart Data'!$A$2:$A$5</c:f>
              <c:strCache>
                <c:ptCount val="4"/>
                <c:pt idx="0">
                  <c:v>X/Twitter</c:v>
                </c:pt>
                <c:pt idx="1">
                  <c:v>LinkedIn</c:v>
                </c:pt>
                <c:pt idx="2">
                  <c:v>Facebook / Instagram</c:v>
                </c:pt>
                <c:pt idx="3">
                  <c:v>Tracking + creative</c:v>
                </c:pt>
              </c:strCache>
            </c:strRef>
          </c:cat>
          <c:val>
            <c:numRef>
              <c:f>'Chart Data'!$B$2:$B$5</c:f>
              <c:numCache>
                <c:formatCode>0%</c:formatCode>
                <c:ptCount val="4"/>
                <c:pt idx="0">
                  <c:v>0.6</c:v>
                </c:pt>
                <c:pt idx="1">
                  <c:v>0.25</c:v>
                </c:pt>
                <c:pt idx="2">
                  <c:v>0.1</c:v>
                </c:pt>
                <c:pt idx="3">
                  <c:v>0.05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72768"/>
      </c:catAx>
      <c:valAx>
        <c:axId val="48672768"/>
        <c:scaling>
          <c:orientation val="minMax"/>
        </c:scaling>
        <c:delete val="0"/>
        <c:axPos val="b"/>
        <c:numFmt formatCode="0%" sourceLink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a:latin typeface="Arial"/>
                <a:ea typeface="Arial"/>
                <a:cs typeface="Arial"/>
              </a:rPr>
              <a:t>Share of registrations by stated discovery channel</a:t>
            </a:r>
          </a:p>
        </c:rich>
      </c:tx>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title>
    <c:plotArea>
      <c:barChart>
        <c:barDir val="bar"/>
        <c:grouping val="clustered"/>
        <c:varyColors val="0"/>
        <c:ser>
          <c:idx val="0"/>
          <c:order val="0"/>
          <c:tx>
            <c:v>Cohort 9</c:v>
          </c:tx>
          <c:spPr>
            <a:solidFill xmlns:a="http://schemas.openxmlformats.org/drawingml/2006/main">
              <a:srgbClr val="12343B"/>
            </a:solidFill>
          </c:spPr>
          <c:cat>
            <c:strRef>
              <c:f>'Chart Data'!$A$2:$A$7</c:f>
              <c:strCache>
                <c:ptCount val="6"/>
                <c:pt idx="0">
                  <c:v>X (Twitter)</c:v>
                </c:pt>
                <c:pt idx="1">
                  <c:v>LinkedIn</c:v>
                </c:pt>
                <c:pt idx="2">
                  <c:v>WhatsApp</c:v>
                </c:pt>
                <c:pt idx="3">
                  <c:v>Referral</c:v>
                </c:pt>
                <c:pt idx="4">
                  <c:v>Facebook</c:v>
                </c:pt>
                <c:pt idx="5">
                  <c:v>Instagram</c:v>
                </c:pt>
              </c:strCache>
            </c:strRef>
          </c:cat>
          <c:val>
            <c:numRef>
              <c:f>'Chart Data'!$B$2:$B$7</c:f>
              <c:numCache>
                <c:formatCode>0%</c:formatCode>
                <c:ptCount val="6"/>
                <c:pt idx="0">
                  <c:v>0.626</c:v>
                </c:pt>
                <c:pt idx="1">
                  <c:v>0.151</c:v>
                </c:pt>
                <c:pt idx="2">
                  <c:v>0.183</c:v>
                </c:pt>
                <c:pt idx="3">
                  <c:v>0.024</c:v>
                </c:pt>
                <c:pt idx="4">
                  <c:v>0.011</c:v>
                </c:pt>
                <c:pt idx="5">
                  <c:v>0.005</c:v>
                </c:pt>
              </c:numCache>
            </c:numRef>
          </c:val>
        </c:ser>
        <c:ser>
          <c:idx val="1"/>
          <c:order val="1"/>
          <c:tx>
            <c:v>Cohort 10</c:v>
          </c:tx>
          <c:spPr>
            <a:solidFill xmlns:a="http://schemas.openxmlformats.org/drawingml/2006/main">
              <a:srgbClr val="C4523C"/>
            </a:solidFill>
          </c:spPr>
          <c:cat>
            <c:strRef>
              <c:f>'Chart Data'!$C$2:$C$7</c:f>
              <c:strCache>
                <c:ptCount val="6"/>
                <c:pt idx="0">
                  <c:v>X (Twitter)</c:v>
                </c:pt>
                <c:pt idx="1">
                  <c:v>LinkedIn</c:v>
                </c:pt>
                <c:pt idx="2">
                  <c:v>WhatsApp</c:v>
                </c:pt>
                <c:pt idx="3">
                  <c:v>Referral</c:v>
                </c:pt>
                <c:pt idx="4">
                  <c:v>Facebook</c:v>
                </c:pt>
                <c:pt idx="5">
                  <c:v>Instagram</c:v>
                </c:pt>
              </c:strCache>
            </c:strRef>
          </c:cat>
          <c:val>
            <c:numRef>
              <c:f>'Chart Data'!$D$2:$D$7</c:f>
              <c:numCache>
                <c:formatCode>0%</c:formatCode>
                <c:ptCount val="6"/>
                <c:pt idx="0">
                  <c:v>0.865</c:v>
                </c:pt>
                <c:pt idx="1">
                  <c:v>0.07</c:v>
                </c:pt>
                <c:pt idx="2">
                  <c:v>0.029</c:v>
                </c:pt>
                <c:pt idx="3">
                  <c:v>0.023</c:v>
                </c:pt>
                <c:pt idx="4">
                  <c:v>0.012</c:v>
                </c:pt>
                <c:pt idx="5">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72768"/>
      </c:catAx>
      <c:valAx>
        <c:axId val="48672768"/>
        <c:scaling>
          <c:orientation val="minMax"/>
        </c:scaling>
        <c:delete val="0"/>
        <c:axPos val="b"/>
        <c:numFmt formatCode="0%" sourceLink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a:latin typeface="Arial"/>
                <a:ea typeface="Arial"/>
                <a:cs typeface="Arial"/>
              </a:rPr>
              <a:t>Largest registration days in each supplied cohort</a:t>
            </a:r>
          </a:p>
        </c:rich>
      </c:tx>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title>
    <c:plotArea>
      <c:barChart>
        <c:barDir val="col"/>
        <c:grouping val="clustered"/>
        <c:varyColors val="0"/>
        <c:ser>
          <c:idx val="0"/>
          <c:order val="0"/>
          <c:tx>
            <c:v>Cohort 9</c:v>
          </c:tx>
          <c:spPr>
            <a:solidFill xmlns:a="http://schemas.openxmlformats.org/drawingml/2006/main">
              <a:srgbClr val="12343B"/>
            </a:solidFill>
          </c:spPr>
          <c:cat>
            <c:strRef>
              <c:f>'Chart Data'!$A$2:$A$5</c:f>
              <c:strCache>
                <c:ptCount val="4"/>
                <c:pt idx="0">
                  <c:v>C9 2026-01-22</c:v>
                </c:pt>
                <c:pt idx="1">
                  <c:v>C9 2026-01-23</c:v>
                </c:pt>
                <c:pt idx="2">
                  <c:v>C10 2026-05-14</c:v>
                </c:pt>
                <c:pt idx="3">
                  <c:v>C10 2026-05-15</c:v>
                </c:pt>
              </c:strCache>
            </c:strRef>
          </c:cat>
          <c:val>
            <c:numRef>
              <c:f>'Chart Data'!$B$2:$B$5</c:f>
              <c:numCache>
                <c:formatCode>#,##0</c:formatCode>
                <c:ptCount val="4"/>
                <c:pt idx="0">
                  <c:v>279</c:v>
                </c:pt>
                <c:pt idx="1">
                  <c:v>190</c:v>
                </c:pt>
                <c:pt idx="2">
                  <c:v>0</c:v>
                </c:pt>
                <c:pt idx="3">
                  <c:v>0</c:v>
                </c:pt>
              </c:numCache>
            </c:numRef>
          </c:val>
        </c:ser>
        <c:ser>
          <c:idx val="1"/>
          <c:order val="1"/>
          <c:tx>
            <c:v>Cohort 10</c:v>
          </c:tx>
          <c:spPr>
            <a:solidFill xmlns:a="http://schemas.openxmlformats.org/drawingml/2006/main">
              <a:srgbClr val="C4523C"/>
            </a:solidFill>
          </c:spPr>
          <c:cat>
            <c:strRef>
              <c:f>'Chart Data'!$C$2:$C$5</c:f>
              <c:strCache>
                <c:ptCount val="4"/>
                <c:pt idx="0">
                  <c:v>C9 2026-01-22</c:v>
                </c:pt>
                <c:pt idx="1">
                  <c:v>C9 2026-01-23</c:v>
                </c:pt>
                <c:pt idx="2">
                  <c:v>C10 2026-05-14</c:v>
                </c:pt>
                <c:pt idx="3">
                  <c:v>C10 2026-05-15</c:v>
                </c:pt>
              </c:strCache>
            </c:strRef>
          </c:cat>
          <c:val>
            <c:numRef>
              <c:f>'Chart Data'!$D$2:$D$5</c:f>
              <c:numCache>
                <c:formatCode>#,##0</c:formatCode>
                <c:ptCount val="4"/>
                <c:pt idx="0">
                  <c:v>0</c:v>
                </c:pt>
                <c:pt idx="1">
                  <c:v>0</c:v>
                </c:pt>
                <c:pt idx="2">
                  <c:v>84</c:v>
                </c:pt>
                <c:pt idx="3">
                  <c:v>42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72768"/>
      </c:catAx>
      <c:valAx>
        <c:axId val="48672768"/>
        <c:scaling>
          <c:orientation val="minMax"/>
        </c:scaling>
        <c:delete val="0"/>
        <c:axPos val="l"/>
        <c:numFmt formatCode="#,##0" sourceLink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a:latin typeface="Arial"/>
                <a:ea typeface="Arial"/>
                <a:cs typeface="Arial"/>
              </a:rPr>
              <a:t>Course-family share of registrations</a:t>
            </a:r>
          </a:p>
        </c:rich>
      </c:tx>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title>
    <c:plotArea>
      <c:barChart>
        <c:barDir val="bar"/>
        <c:grouping val="clustered"/>
        <c:varyColors val="0"/>
        <c:ser>
          <c:idx val="0"/>
          <c:order val="0"/>
          <c:tx>
            <c:v>Cohort 9</c:v>
          </c:tx>
          <c:spPr>
            <a:solidFill xmlns:a="http://schemas.openxmlformats.org/drawingml/2006/main">
              <a:srgbClr val="12343B"/>
            </a:solidFill>
          </c:spPr>
          <c:cat>
            <c:strRef>
              <c:f>'Chart Data'!$A$2:$A$6</c:f>
              <c:strCache>
                <c:ptCount val="5"/>
                <c:pt idx="0">
                  <c:v>Data Science / AI / ML</c:v>
                </c:pt>
                <c:pt idx="1">
                  <c:v>Healthcare Data Analytics</c:v>
                </c:pt>
                <c:pt idx="2">
                  <c:v>Financial Analytics</c:v>
                </c:pt>
                <c:pt idx="3">
                  <c:v>Sales &amp; Marketing Analytics</c:v>
                </c:pt>
                <c:pt idx="4">
                  <c:v>Supply Chain Analytics</c:v>
                </c:pt>
              </c:strCache>
            </c:strRef>
          </c:cat>
          <c:val>
            <c:numRef>
              <c:f>'Chart Data'!$B$2:$B$6</c:f>
              <c:numCache>
                <c:formatCode>0%</c:formatCode>
                <c:ptCount val="5"/>
                <c:pt idx="0">
                  <c:v>0.456</c:v>
                </c:pt>
                <c:pt idx="1">
                  <c:v>0.244</c:v>
                </c:pt>
                <c:pt idx="2">
                  <c:v>0.167</c:v>
                </c:pt>
                <c:pt idx="3">
                  <c:v>0.133</c:v>
                </c:pt>
                <c:pt idx="4">
                  <c:v>0</c:v>
                </c:pt>
              </c:numCache>
            </c:numRef>
          </c:val>
        </c:ser>
        <c:ser>
          <c:idx val="1"/>
          <c:order val="1"/>
          <c:tx>
            <c:v>Cohort 10</c:v>
          </c:tx>
          <c:spPr>
            <a:solidFill xmlns:a="http://schemas.openxmlformats.org/drawingml/2006/main">
              <a:srgbClr val="C4523C"/>
            </a:solidFill>
          </c:spPr>
          <c:cat>
            <c:strRef>
              <c:f>'Chart Data'!$C$2:$C$6</c:f>
              <c:strCache>
                <c:ptCount val="5"/>
                <c:pt idx="0">
                  <c:v>Data Science / AI / ML</c:v>
                </c:pt>
                <c:pt idx="1">
                  <c:v>Healthcare Data Analytics</c:v>
                </c:pt>
                <c:pt idx="2">
                  <c:v>Financial Analytics</c:v>
                </c:pt>
                <c:pt idx="3">
                  <c:v>Sales &amp; Marketing Analytics</c:v>
                </c:pt>
                <c:pt idx="4">
                  <c:v>Supply Chain Analytics</c:v>
                </c:pt>
              </c:strCache>
            </c:strRef>
          </c:cat>
          <c:val>
            <c:numRef>
              <c:f>'Chart Data'!$D$2:$D$6</c:f>
              <c:numCache>
                <c:formatCode>0%</c:formatCode>
                <c:ptCount val="5"/>
                <c:pt idx="0">
                  <c:v>0.456</c:v>
                </c:pt>
                <c:pt idx="1">
                  <c:v>0.158</c:v>
                </c:pt>
                <c:pt idx="2">
                  <c:v>0.123</c:v>
                </c:pt>
                <c:pt idx="3">
                  <c:v>0.199</c:v>
                </c:pt>
                <c:pt idx="4">
                  <c:v>0.064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72768"/>
      </c:catAx>
      <c:valAx>
        <c:axId val="48672768"/>
        <c:scaling>
          <c:orientation val="minMax"/>
        </c:scaling>
        <c:delete val="0"/>
        <c:axPos val="b"/>
        <c:numFmt formatCode="0%" sourceLink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a:latin typeface="Arial"/>
                <a:ea typeface="Arial"/>
                <a:cs typeface="Arial"/>
              </a:rPr>
              <a:t>Declared occupation segment</a:t>
            </a:r>
          </a:p>
        </c:rich>
      </c:tx>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title>
    <c:plotArea>
      <c:barChart>
        <c:barDir val="bar"/>
        <c:grouping val="clustered"/>
        <c:varyColors val="0"/>
        <c:ser>
          <c:idx val="0"/>
          <c:order val="0"/>
          <c:tx>
            <c:v>Cohort 10 registrations</c:v>
          </c:tx>
          <c:spPr>
            <a:solidFill xmlns:a="http://schemas.openxmlformats.org/drawingml/2006/main">
              <a:srgbClr val="C4523C"/>
            </a:solidFill>
          </c:spPr>
          <c:cat>
            <c:strRef>
              <c:f>'Chart Data'!$A$2:$A$11</c:f>
              <c:strCache>
                <c:ptCount val="10"/>
                <c:pt idx="0">
                  <c:v>Student</c:v>
                </c:pt>
                <c:pt idx="1">
                  <c:v>Other</c:v>
                </c:pt>
                <c:pt idx="2">
                  <c:v>Business / Entrepreneur</c:v>
                </c:pt>
                <c:pt idx="3">
                  <c:v>Banking / Finance</c:v>
                </c:pt>
                <c:pt idx="4">
                  <c:v>IT / Technology</c:v>
                </c:pt>
                <c:pt idx="5">
                  <c:v>Unemployed</c:v>
                </c:pt>
                <c:pt idx="6">
                  <c:v>Healthcare</c:v>
                </c:pt>
                <c:pt idx="7">
                  <c:v>Freelance / Creative</c:v>
                </c:pt>
                <c:pt idx="8">
                  <c:v>Data Analyst</c:v>
                </c:pt>
                <c:pt idx="9">
                  <c:v>Education</c:v>
                </c:pt>
              </c:strCache>
            </c:strRef>
          </c:cat>
          <c:val>
            <c:numRef>
              <c:f>'Chart Data'!$B$2:$B$11</c:f>
              <c:numCache>
                <c:formatCode>#,##0</c:formatCode>
                <c:ptCount val="10"/>
                <c:pt idx="0">
                  <c:v>34</c:v>
                </c:pt>
                <c:pt idx="1">
                  <c:v>58</c:v>
                </c:pt>
                <c:pt idx="2">
                  <c:v>12</c:v>
                </c:pt>
                <c:pt idx="3">
                  <c:v>10</c:v>
                </c:pt>
                <c:pt idx="4">
                  <c:v>9</c:v>
                </c:pt>
                <c:pt idx="5">
                  <c:v>8</c:v>
                </c:pt>
                <c:pt idx="6">
                  <c:v>7</c:v>
                </c:pt>
                <c:pt idx="7">
                  <c:v>6</c:v>
                </c:pt>
                <c:pt idx="8">
                  <c:v>5</c:v>
                </c:pt>
                <c:pt idx="9">
                  <c:v>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Arial"/>
                <a:ea typeface="Arial"/>
                <a:cs typeface="Arial"/>
              </a:defRPr>
            </a:pPr>
          </a:p>
        </c:txPr>
        <c:crossAx val="48672768"/>
      </c:catAx>
      <c:valAx>
        <c:axId val="48672768"/>
        <c:scaling>
          <c:orientation val="minMax"/>
        </c:scaling>
        <c:delete val="0"/>
        <c:axPos val="b"/>
        <c:numFmt formatCode="#,##0" sourceLink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a:latin typeface="Arial"/>
                <a:ea typeface="Arial"/>
                <a:cs typeface="Arial"/>
              </a:rPr>
              <a:t>Top countries</a:t>
            </a:r>
          </a:p>
        </c:rich>
      </c:tx>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title>
    <c:plotArea>
      <c:barChart>
        <c:barDir val="bar"/>
        <c:grouping val="clustered"/>
        <c:varyColors val="0"/>
        <c:ser>
          <c:idx val="0"/>
          <c:order val="0"/>
          <c:tx>
            <c:v>Cohort 10 registrations</c:v>
          </c:tx>
          <c:spPr>
            <a:solidFill xmlns:a="http://schemas.openxmlformats.org/drawingml/2006/main">
              <a:srgbClr val="12343B"/>
            </a:solidFill>
          </c:spPr>
          <c:cat>
            <c:strRef>
              <c:f>'Chart Data'!$A$2:$A$6</c:f>
              <c:strCache>
                <c:ptCount val="5"/>
                <c:pt idx="0">
                  <c:v>Nigeria</c:v>
                </c:pt>
                <c:pt idx="1">
                  <c:v>Kenya</c:v>
                </c:pt>
                <c:pt idx="2">
                  <c:v>South Africa</c:v>
                </c:pt>
                <c:pt idx="3">
                  <c:v>Ghana</c:v>
                </c:pt>
                <c:pt idx="4">
                  <c:v>Uganda</c:v>
                </c:pt>
              </c:strCache>
            </c:strRef>
          </c:cat>
          <c:val>
            <c:numRef>
              <c:f>'Chart Data'!$B$2:$B$6</c:f>
              <c:numCache>
                <c:formatCode>#,##0</c:formatCode>
                <c:ptCount val="5"/>
                <c:pt idx="0">
                  <c:v>107</c:v>
                </c:pt>
                <c:pt idx="1">
                  <c:v>20</c:v>
                </c:pt>
                <c:pt idx="2">
                  <c:v>11</c:v>
                </c:pt>
                <c:pt idx="3">
                  <c:v>9</c:v>
                </c:pt>
                <c:pt idx="4">
                  <c:v>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72768"/>
      </c:catAx>
      <c:valAx>
        <c:axId val="48672768"/>
        <c:scaling>
          <c:orientation val="minMax"/>
        </c:scaling>
        <c:delete val="0"/>
        <c:axPos val="b"/>
        <c:numFmt formatCode="#,##0" sourceLink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a:latin typeface="Arial"/>
                <a:ea typeface="Arial"/>
                <a:cs typeface="Arial"/>
              </a:rPr>
              <a:t>Cohort 10 course share versus directional occupation match</a:t>
            </a:r>
          </a:p>
        </c:rich>
      </c:tx>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title>
    <c:plotArea>
      <c:barChart>
        <c:barDir val="bar"/>
        <c:grouping val="clustered"/>
        <c:varyColors val="0"/>
        <c:ser>
          <c:idx val="0"/>
          <c:order val="0"/>
          <c:tx>
            <c:v>Course share</c:v>
          </c:tx>
          <c:spPr>
            <a:solidFill xmlns:a="http://schemas.openxmlformats.org/drawingml/2006/main">
              <a:srgbClr val="C4523C"/>
            </a:solidFill>
          </c:spPr>
          <c:cat>
            <c:strRef>
              <c:f>'Chart Data'!$A$2:$A$6</c:f>
              <c:strCache>
                <c:ptCount val="5"/>
                <c:pt idx="0">
                  <c:v>Data Science / AI / ML</c:v>
                </c:pt>
                <c:pt idx="1">
                  <c:v>Sales &amp; Marketing</c:v>
                </c:pt>
                <c:pt idx="2">
                  <c:v>Healthcare</c:v>
                </c:pt>
                <c:pt idx="3">
                  <c:v>Financial</c:v>
                </c:pt>
                <c:pt idx="4">
                  <c:v>Supply Chain</c:v>
                </c:pt>
              </c:strCache>
            </c:strRef>
          </c:cat>
          <c:val>
            <c:numRef>
              <c:f>'Chart Data'!$B$2:$B$6</c:f>
              <c:numCache>
                <c:formatCode>0%</c:formatCode>
                <c:ptCount val="5"/>
                <c:pt idx="0">
                  <c:v>0.456</c:v>
                </c:pt>
                <c:pt idx="1">
                  <c:v>0.199</c:v>
                </c:pt>
                <c:pt idx="2">
                  <c:v>0.158</c:v>
                </c:pt>
                <c:pt idx="3">
                  <c:v>0.123</c:v>
                </c:pt>
                <c:pt idx="4">
                  <c:v>0.064</c:v>
                </c:pt>
              </c:numCache>
            </c:numRef>
          </c:val>
        </c:ser>
        <c:ser>
          <c:idx val="1"/>
          <c:order val="1"/>
          <c:tx>
            <c:v>Matching declared occupation share</c:v>
          </c:tx>
          <c:spPr>
            <a:solidFill xmlns:a="http://schemas.openxmlformats.org/drawingml/2006/main">
              <a:srgbClr val="12343B"/>
            </a:solidFill>
          </c:spPr>
          <c:cat>
            <c:strRef>
              <c:f>'Chart Data'!$C$2:$C$6</c:f>
              <c:strCache>
                <c:ptCount val="5"/>
                <c:pt idx="0">
                  <c:v>Data Science / AI / ML</c:v>
                </c:pt>
                <c:pt idx="1">
                  <c:v>Sales &amp; Marketing</c:v>
                </c:pt>
                <c:pt idx="2">
                  <c:v>Healthcare</c:v>
                </c:pt>
                <c:pt idx="3">
                  <c:v>Financial</c:v>
                </c:pt>
                <c:pt idx="4">
                  <c:v>Supply Chain</c:v>
                </c:pt>
              </c:strCache>
            </c:strRef>
          </c:cat>
          <c:val>
            <c:numRef>
              <c:f>'Chart Data'!$D$2:$D$6</c:f>
              <c:numCache>
                <c:formatCode>0%</c:formatCode>
                <c:ptCount val="5"/>
                <c:pt idx="0">
                  <c:v>0.099</c:v>
                </c:pt>
                <c:pt idx="1">
                  <c:v>0.018</c:v>
                </c:pt>
                <c:pt idx="2">
                  <c:v>0.041</c:v>
                </c:pt>
                <c:pt idx="3">
                  <c:v>0.07</c:v>
                </c:pt>
                <c:pt idx="4">
                  <c:v>0.012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72768"/>
      </c:catAx>
      <c:valAx>
        <c:axId val="48672768"/>
        <c:scaling>
          <c:orientation val="minMax"/>
        </c:scaling>
        <c:delete val="0"/>
        <c:axPos val="b"/>
        <c:numFmt formatCode="0%" sourceLink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a:latin typeface="Arial"/>
                <a:ea typeface="Arial"/>
                <a:cs typeface="Arial"/>
              </a:rPr>
              <a:t>Registration share by day</a:t>
            </a:r>
          </a:p>
        </c:rich>
      </c:tx>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title>
    <c:plotArea>
      <c:barChart>
        <c:barDir val="col"/>
        <c:grouping val="clustered"/>
        <c:varyColors val="0"/>
        <c:ser>
          <c:idx val="0"/>
          <c:order val="0"/>
          <c:tx>
            <c:v>Cohort 9</c:v>
          </c:tx>
          <c:spPr>
            <a:solidFill xmlns:a="http://schemas.openxmlformats.org/drawingml/2006/main">
              <a:srgbClr val="12343B"/>
            </a:solidFill>
          </c:spPr>
          <c:cat>
            <c:strRef>
              <c:f>'Chart Data'!$A$2:$A$8</c:f>
              <c:strCache>
                <c:ptCount val="7"/>
                <c:pt idx="0">
                  <c:v>Monday</c:v>
                </c:pt>
                <c:pt idx="1">
                  <c:v>Tuesday</c:v>
                </c:pt>
                <c:pt idx="2">
                  <c:v>Wednesday</c:v>
                </c:pt>
                <c:pt idx="3">
                  <c:v>Thursday</c:v>
                </c:pt>
                <c:pt idx="4">
                  <c:v>Friday</c:v>
                </c:pt>
                <c:pt idx="5">
                  <c:v>Saturday</c:v>
                </c:pt>
                <c:pt idx="6">
                  <c:v>Sunday</c:v>
                </c:pt>
              </c:strCache>
            </c:strRef>
          </c:cat>
          <c:val>
            <c:numRef>
              <c:f>'Chart Data'!$B$2:$B$8</c:f>
              <c:numCache>
                <c:formatCode>0%</c:formatCode>
                <c:ptCount val="7"/>
                <c:pt idx="0">
                  <c:v>0.186</c:v>
                </c:pt>
                <c:pt idx="1">
                  <c:v>0.119</c:v>
                </c:pt>
                <c:pt idx="2">
                  <c:v>0.121</c:v>
                </c:pt>
                <c:pt idx="3">
                  <c:v>0.296</c:v>
                </c:pt>
                <c:pt idx="4">
                  <c:v>0.194</c:v>
                </c:pt>
                <c:pt idx="5">
                  <c:v>0.062</c:v>
                </c:pt>
                <c:pt idx="6">
                  <c:v>0.021</c:v>
                </c:pt>
              </c:numCache>
            </c:numRef>
          </c:val>
        </c:ser>
        <c:ser>
          <c:idx val="1"/>
          <c:order val="1"/>
          <c:tx>
            <c:v>Cohort 10</c:v>
          </c:tx>
          <c:spPr>
            <a:solidFill xmlns:a="http://schemas.openxmlformats.org/drawingml/2006/main">
              <a:srgbClr val="C4523C"/>
            </a:solidFill>
          </c:spPr>
          <c:cat>
            <c:strRef>
              <c:f>'Chart Data'!$C$2:$C$8</c:f>
              <c:strCache>
                <c:ptCount val="7"/>
                <c:pt idx="0">
                  <c:v>Monday</c:v>
                </c:pt>
                <c:pt idx="1">
                  <c:v>Tuesday</c:v>
                </c:pt>
                <c:pt idx="2">
                  <c:v>Wednesday</c:v>
                </c:pt>
                <c:pt idx="3">
                  <c:v>Thursday</c:v>
                </c:pt>
                <c:pt idx="4">
                  <c:v>Friday</c:v>
                </c:pt>
                <c:pt idx="5">
                  <c:v>Saturday</c:v>
                </c:pt>
                <c:pt idx="6">
                  <c:v>Sunday</c:v>
                </c:pt>
              </c:strCache>
            </c:strRef>
          </c:cat>
          <c:val>
            <c:numRef>
              <c:f>'Chart Data'!$D$2:$D$8</c:f>
              <c:numCache>
                <c:formatCode>0%</c:formatCode>
                <c:ptCount val="7"/>
                <c:pt idx="0">
                  <c:v>0.023</c:v>
                </c:pt>
                <c:pt idx="1">
                  <c:v>0.006</c:v>
                </c:pt>
                <c:pt idx="2">
                  <c:v>0.047</c:v>
                </c:pt>
                <c:pt idx="3">
                  <c:v>0.579</c:v>
                </c:pt>
                <c:pt idx="4">
                  <c:v>0.292</c:v>
                </c:pt>
                <c:pt idx="5">
                  <c:v>0.047</c:v>
                </c:pt>
                <c:pt idx="6">
                  <c:v>0.006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Arial"/>
                <a:ea typeface="Arial"/>
                <a:cs typeface="Arial"/>
              </a:defRPr>
            </a:pPr>
          </a:p>
        </c:txPr>
        <c:crossAx val="48672768"/>
      </c:catAx>
      <c:valAx>
        <c:axId val="48672768"/>
        <c:scaling>
          <c:orientation val="minMax"/>
        </c:scaling>
        <c:delete val="0"/>
        <c:axPos val="l"/>
        <c:numFmt formatCode="0%" sourceLink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a:latin typeface="Arial"/>
                <a:ea typeface="Arial"/>
                <a:cs typeface="Arial"/>
              </a:rPr>
              <a:t>Registration share by period</a:t>
            </a:r>
          </a:p>
        </c:rich>
      </c:tx>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title>
    <c:plotArea>
      <c:barChart>
        <c:barDir val="col"/>
        <c:grouping val="clustered"/>
        <c:varyColors val="0"/>
        <c:ser>
          <c:idx val="0"/>
          <c:order val="0"/>
          <c:tx>
            <c:v>Cohort 9</c:v>
          </c:tx>
          <c:spPr>
            <a:solidFill xmlns:a="http://schemas.openxmlformats.org/drawingml/2006/main">
              <a:srgbClr val="12343B"/>
            </a:solidFill>
          </c:spPr>
          <c:cat>
            <c:strRef>
              <c:f>'Chart Data'!$A$2:$A$4</c:f>
              <c:strCache>
                <c:ptCount val="3"/>
                <c:pt idx="0">
                  <c:v>Morning</c:v>
                </c:pt>
                <c:pt idx="1">
                  <c:v>Afternoon</c:v>
                </c:pt>
                <c:pt idx="2">
                  <c:v>Evening</c:v>
                </c:pt>
              </c:strCache>
            </c:strRef>
          </c:cat>
          <c:val>
            <c:numRef>
              <c:f>'Chart Data'!$B$2:$B$4</c:f>
              <c:numCache>
                <c:formatCode>0%</c:formatCode>
                <c:ptCount val="3"/>
                <c:pt idx="0">
                  <c:v>0.303</c:v>
                </c:pt>
                <c:pt idx="1">
                  <c:v>0.247</c:v>
                </c:pt>
                <c:pt idx="2">
                  <c:v>0.451</c:v>
                </c:pt>
              </c:numCache>
            </c:numRef>
          </c:val>
        </c:ser>
        <c:ser>
          <c:idx val="1"/>
          <c:order val="1"/>
          <c:tx>
            <c:v>Cohort 10</c:v>
          </c:tx>
          <c:spPr>
            <a:solidFill xmlns:a="http://schemas.openxmlformats.org/drawingml/2006/main">
              <a:srgbClr val="C4523C"/>
            </a:solidFill>
          </c:spPr>
          <c:cat>
            <c:strRef>
              <c:f>'Chart Data'!$C$2:$C$4</c:f>
              <c:strCache>
                <c:ptCount val="3"/>
                <c:pt idx="0">
                  <c:v>Morning</c:v>
                </c:pt>
                <c:pt idx="1">
                  <c:v>Afternoon</c:v>
                </c:pt>
                <c:pt idx="2">
                  <c:v>Evening</c:v>
                </c:pt>
              </c:strCache>
            </c:strRef>
          </c:cat>
          <c:val>
            <c:numRef>
              <c:f>'Chart Data'!$D$2:$D$4</c:f>
              <c:numCache>
                <c:formatCode>0%</c:formatCode>
                <c:ptCount val="3"/>
                <c:pt idx="0">
                  <c:v>0.257</c:v>
                </c:pt>
                <c:pt idx="1">
                  <c:v>0.123</c:v>
                </c:pt>
                <c:pt idx="2">
                  <c:v>0.62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Arial"/>
                <a:ea typeface="Arial"/>
                <a:cs typeface="Arial"/>
              </a:defRPr>
            </a:pPr>
          </a:p>
        </c:txPr>
        <c:crossAx val="48672768"/>
      </c:catAx>
      <c:valAx>
        <c:axId val="48672768"/>
        <c:scaling>
          <c:orientation val="minMax"/>
        </c:scaling>
        <c:delete val="0"/>
        <c:axPos val="l"/>
        <c:numFmt formatCode="0%" sourceLink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343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746D1B-DD39-4690-94D9-E71D84AAD49A}"/>
              </a:ext>
            </a:extLst>
          </p:cNvPr>
          <p:cNvSpPr>
            <a:spLocks xmlns:a="http://schemas.openxmlformats.org/drawingml/2006/main" noGrp="1"/>
          </p:cNvSpPr>
          <p:nvPr/>
        </p:nvSpPr>
        <p:spPr>
          <a:xfrm xmlns:a="http://schemas.openxmlformats.org/drawingml/2006/main">
            <a:off x="685800" y="81915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i="0">
                <a:solidFill>
                  <a:srgbClr val="E9B35E"/>
                </a:solidFill>
                <a:latin typeface="Arial"/>
                <a:ea typeface="Arial"/>
                <a:cs typeface="Arial"/>
              </a:defRPr>
            </a:pPr>
            <a:r>
              <a:rPr sz="1125" b="1" i="0">
                <a:solidFill>
                  <a:srgbClr val="E9B35E"/>
                </a:solidFill>
                <a:latin typeface="Arial"/>
                <a:ea typeface="Arial"/>
                <a:cs typeface="Arial"/>
              </a:rPr>
              <a:t>ZION TECH HUB</a:t>
            </a:r>
          </a:p>
        </p:txBody>
      </p:sp>
      <p:sp>
        <p:nvSpPr>
          <p:cNvPr id="2" name="">
            <a:extLst xmlns:a="http://schemas.openxmlformats.org/drawingml/2006/main">
              <a:ext uri="{FF2B5EF4-FFF2-40B4-BE49-F238E27FC236}">
                <a16:creationId xmlns:a16="http://schemas.microsoft.com/office/drawing/2014/main" id="{DD424D79-47E9-4C37-8084-B1DA83F72C49}"/>
              </a:ext>
            </a:extLst>
          </p:cNvPr>
          <p:cNvSpPr>
            <a:spLocks xmlns:a="http://schemas.openxmlformats.org/drawingml/2006/main" noGrp="1"/>
          </p:cNvSpPr>
          <p:nvPr/>
        </p:nvSpPr>
        <p:spPr>
          <a:xfrm xmlns:a="http://schemas.openxmlformats.org/drawingml/2006/main">
            <a:off x="685800" y="1676400"/>
            <a:ext cx="9144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i="0">
                <a:solidFill>
                  <a:srgbClr val="FFFFFF"/>
                </a:solidFill>
                <a:latin typeface="Arial"/>
                <a:ea typeface="Arial"/>
                <a:cs typeface="Arial"/>
              </a:defRPr>
            </a:pPr>
            <a:r>
              <a:rPr sz="4050" b="1" i="0">
                <a:solidFill>
                  <a:srgbClr val="FFFFFF"/>
                </a:solidFill>
                <a:latin typeface="Arial"/>
                <a:ea typeface="Arial"/>
                <a:cs typeface="Arial"/>
              </a:rPr>
              <a:t>Where the first ad naira should go</a:t>
            </a:r>
          </a:p>
        </p:txBody>
      </p:sp>
      <p:sp>
        <p:nvSpPr>
          <p:cNvPr id="3" name="">
            <a:extLst xmlns:a="http://schemas.openxmlformats.org/drawingml/2006/main">
              <a:ext uri="{FF2B5EF4-FFF2-40B4-BE49-F238E27FC236}">
                <a16:creationId xmlns:a16="http://schemas.microsoft.com/office/drawing/2014/main" id="{693ACA3A-ACDB-4ABF-A778-FECC4A53AD80}"/>
              </a:ext>
            </a:extLst>
          </p:cNvPr>
          <p:cNvSpPr>
            <a:spLocks xmlns:a="http://schemas.openxmlformats.org/drawingml/2006/main" noGrp="1"/>
          </p:cNvSpPr>
          <p:nvPr/>
        </p:nvSpPr>
        <p:spPr>
          <a:xfrm xmlns:a="http://schemas.openxmlformats.org/drawingml/2006/main">
            <a:off x="685800" y="3009900"/>
            <a:ext cx="10668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6B8B9D21-11B5-4766-B78E-646D58010810}"/>
              </a:ext>
            </a:extLst>
          </p:cNvPr>
          <p:cNvSpPr>
            <a:spLocks xmlns:a="http://schemas.openxmlformats.org/drawingml/2006/main" noGrp="1"/>
          </p:cNvSpPr>
          <p:nvPr/>
        </p:nvSpPr>
        <p:spPr>
          <a:xfrm xmlns:a="http://schemas.openxmlformats.org/drawingml/2006/main">
            <a:off x="685800" y="3276600"/>
            <a:ext cx="742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i="0">
                <a:solidFill>
                  <a:srgbClr val="DDEAE6"/>
                </a:solidFill>
                <a:latin typeface="Arial"/>
                <a:ea typeface="Arial"/>
                <a:cs typeface="Arial"/>
              </a:defRPr>
            </a:pPr>
            <a:r>
              <a:rPr sz="1800" b="0" i="0">
                <a:solidFill>
                  <a:srgbClr val="DDEAE6"/>
                </a:solidFill>
                <a:latin typeface="Arial"/>
                <a:ea typeface="Arial"/>
                <a:cs typeface="Arial"/>
              </a:rPr>
              <a:t>Registration growth analysis for Cohorts 9 and 10</a:t>
            </a:r>
          </a:p>
        </p:txBody>
      </p:sp>
      <p:sp>
        <p:nvSpPr>
          <p:cNvPr id="5" name="">
            <a:extLst xmlns:a="http://schemas.openxmlformats.org/drawingml/2006/main">
              <a:ext uri="{FF2B5EF4-FFF2-40B4-BE49-F238E27FC236}">
                <a16:creationId xmlns:a16="http://schemas.microsoft.com/office/drawing/2014/main" id="{3CEA812A-9C0D-4150-9B2A-92C0771BD024}"/>
              </a:ext>
            </a:extLst>
          </p:cNvPr>
          <p:cNvSpPr>
            <a:spLocks xmlns:a="http://schemas.openxmlformats.org/drawingml/2006/main" noGrp="1"/>
          </p:cNvSpPr>
          <p:nvPr/>
        </p:nvSpPr>
        <p:spPr>
          <a:xfrm xmlns:a="http://schemas.openxmlformats.org/drawingml/2006/main">
            <a:off x="685800" y="3733800"/>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FFFFF"/>
                </a:solidFill>
                <a:latin typeface="Arial"/>
                <a:ea typeface="Arial"/>
                <a:cs typeface="Arial"/>
              </a:defRPr>
            </a:pPr>
            <a:r>
              <a:rPr sz="1350" b="0" i="0">
                <a:solidFill>
                  <a:srgbClr val="FFFFFF"/>
                </a:solidFill>
                <a:latin typeface="Arial"/>
                <a:ea typeface="Arial"/>
                <a:cs typeface="Arial"/>
              </a:rPr>
              <a:t>Decision deck for the Cohort 11 launch</a:t>
            </a:r>
          </a:p>
        </p:txBody>
      </p:sp>
      <p:sp>
        <p:nvSpPr>
          <p:cNvPr id="6" name="">
            <a:extLst xmlns:a="http://schemas.openxmlformats.org/drawingml/2006/main">
              <a:ext uri="{FF2B5EF4-FFF2-40B4-BE49-F238E27FC236}">
                <a16:creationId xmlns:a16="http://schemas.microsoft.com/office/drawing/2014/main" id="{F9153FBC-90FF-4CED-B1B8-D9A3DEC79088}"/>
              </a:ext>
            </a:extLst>
          </p:cNvPr>
          <p:cNvSpPr>
            <a:spLocks xmlns:a="http://schemas.openxmlformats.org/drawingml/2006/main" noGrp="1"/>
          </p:cNvSpPr>
          <p:nvPr/>
        </p:nvSpPr>
        <p:spPr>
          <a:xfrm xmlns:a="http://schemas.openxmlformats.org/drawingml/2006/main">
            <a:off x="685800" y="57531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i="0">
                <a:solidFill>
                  <a:srgbClr val="DDEAE6"/>
                </a:solidFill>
                <a:latin typeface="Arial"/>
                <a:ea typeface="Arial"/>
                <a:cs typeface="Arial"/>
              </a:defRPr>
            </a:pPr>
            <a:r>
              <a:rPr sz="1125" b="0" i="0">
                <a:solidFill>
                  <a:srgbClr val="DDEAE6"/>
                </a:solidFill>
                <a:latin typeface="Arial"/>
                <a:ea typeface="Arial"/>
                <a:cs typeface="Arial"/>
              </a:rPr>
              <a:t>17 September 2026</a:t>
            </a:r>
          </a:p>
        </p:txBody>
      </p:sp>
      <p:sp>
        <p:nvSpPr>
          <p:cNvPr id="7" name="">
            <a:extLst xmlns:a="http://schemas.openxmlformats.org/drawingml/2006/main">
              <a:ext uri="{FF2B5EF4-FFF2-40B4-BE49-F238E27FC236}">
                <a16:creationId xmlns:a16="http://schemas.microsoft.com/office/drawing/2014/main" id="{42EBBE7F-6AA4-439C-8363-6715D5944093}"/>
              </a:ext>
            </a:extLst>
          </p:cNvPr>
          <p:cNvSpPr>
            <a:spLocks xmlns:a="http://schemas.openxmlformats.org/drawingml/2006/main" noGrp="1"/>
          </p:cNvSpPr>
          <p:nvPr/>
        </p:nvSpPr>
        <p:spPr>
          <a:xfrm xmlns:a="http://schemas.openxmlformats.org/drawingml/2006/main">
            <a:off x="11125200" y="59436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E9B35E"/>
                </a:solidFill>
                <a:latin typeface="Arial"/>
                <a:ea typeface="Arial"/>
                <a:cs typeface="Arial"/>
              </a:defRPr>
            </a:pPr>
            <a:r>
              <a:rPr sz="1050" b="1" i="0">
                <a:solidFill>
                  <a:srgbClr val="E9B35E"/>
                </a:solidFill>
                <a:latin typeface="Arial"/>
                <a:ea typeface="Arial"/>
                <a:cs typeface="Arial"/>
              </a:rPr>
              <a:t>01</a:t>
            </a:r>
          </a:p>
        </p:txBody>
      </p:sp>
    </p:spTree>
    <p:extLst>
      <p:ext uri="{BB962C8B-B14F-4D97-AF65-F5344CB8AC3E}">
        <p14:creationId xmlns:p14="http://schemas.microsoft.com/office/powerpoint/2010/main" val="679890105"/>
      </p:ext>
    </p:extLst>
  </p:cSld>
</p:sld>
</file>

<file path=ppt/slides/slide2.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FC9C070-B185-40AB-9A9E-D7B7B9DAE79D}"/>
              </a:ext>
            </a:extLst>
          </p:cNvPr>
          <p:cNvSpPr>
            <a:spLocks xmlns:a="http://schemas.openxmlformats.org/drawingml/2006/main" noGrp="1"/>
          </p:cNvSpPr>
          <p:nvPr/>
        </p:nvSpPr>
        <p:spPr>
          <a:xfrm xmlns:a="http://schemas.openxmlformats.org/drawingml/2006/main">
            <a:off x="533400" y="3619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4523C"/>
                </a:solidFill>
                <a:latin typeface="Arial"/>
                <a:ea typeface="Arial"/>
                <a:cs typeface="Arial"/>
              </a:defRPr>
            </a:pPr>
            <a:r>
              <a:rPr sz="975" b="1" i="0">
                <a:solidFill>
                  <a:srgbClr val="C4523C"/>
                </a:solidFill>
                <a:latin typeface="Arial"/>
                <a:ea typeface="Arial"/>
                <a:cs typeface="Arial"/>
              </a:rPr>
              <a:t>THE SHORT ANSWER</a:t>
            </a:r>
          </a:p>
        </p:txBody>
      </p:sp>
      <p:sp>
        <p:nvSpPr>
          <p:cNvPr id="2" name="">
            <a:extLst xmlns:a="http://schemas.openxmlformats.org/drawingml/2006/main">
              <a:ext uri="{FF2B5EF4-FFF2-40B4-BE49-F238E27FC236}">
                <a16:creationId xmlns:a16="http://schemas.microsoft.com/office/drawing/2014/main" id="{21E7CBF2-B372-4413-A443-76750EBFE7D6}"/>
              </a:ext>
            </a:extLst>
          </p:cNvPr>
          <p:cNvSpPr>
            <a:spLocks xmlns:a="http://schemas.openxmlformats.org/drawingml/2006/main" noGrp="1"/>
          </p:cNvSpPr>
          <p:nvPr/>
        </p:nvSpPr>
        <p:spPr>
          <a:xfrm xmlns:a="http://schemas.openxmlformats.org/drawingml/2006/main">
            <a:off x="533400" y="6286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2343B"/>
                </a:solidFill>
                <a:latin typeface="Arial"/>
                <a:ea typeface="Arial"/>
                <a:cs typeface="Arial"/>
              </a:defRPr>
            </a:pPr>
            <a:r>
              <a:rPr sz="2700" b="1" i="0">
                <a:solidFill>
                  <a:srgbClr val="12343B"/>
                </a:solidFill>
                <a:latin typeface="Arial"/>
                <a:ea typeface="Arial"/>
                <a:cs typeface="Arial"/>
              </a:rPr>
              <a:t>The growth signal is concentrated, timely and still usable</a:t>
            </a:r>
          </a:p>
        </p:txBody>
      </p:sp>
      <p:sp>
        <p:nvSpPr>
          <p:cNvPr id="3" name="">
            <a:extLst xmlns:a="http://schemas.openxmlformats.org/drawingml/2006/main">
              <a:ext uri="{FF2B5EF4-FFF2-40B4-BE49-F238E27FC236}">
                <a16:creationId xmlns:a16="http://schemas.microsoft.com/office/drawing/2014/main" id="{01433B41-1833-421D-8B57-63AC0F555258}"/>
              </a:ext>
            </a:extLst>
          </p:cNvPr>
          <p:cNvSpPr>
            <a:spLocks xmlns:a="http://schemas.openxmlformats.org/drawingml/2006/main" noGrp="1"/>
          </p:cNvSpPr>
          <p:nvPr/>
        </p:nvSpPr>
        <p:spPr>
          <a:xfrm xmlns:a="http://schemas.openxmlformats.org/drawingml/2006/main">
            <a:off x="533400" y="1428750"/>
            <a:ext cx="7239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B7139AAB-A0B7-4F0D-9EB8-B2284C04E07B}"/>
              </a:ext>
            </a:extLst>
          </p:cNvPr>
          <p:cNvSpPr>
            <a:spLocks xmlns:a="http://schemas.openxmlformats.org/drawingml/2006/main" noGrp="1"/>
          </p:cNvSpPr>
          <p:nvPr/>
        </p:nvSpPr>
        <p:spPr>
          <a:xfrm xmlns:a="http://schemas.openxmlformats.org/drawingml/2006/main">
            <a:off x="533400" y="6572250"/>
            <a:ext cx="6477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984E6E5D-8B9C-43D4-8181-DD34D2F34A99}"/>
              </a:ext>
            </a:extLst>
          </p:cNvPr>
          <p:cNvSpPr>
            <a:spLocks xmlns:a="http://schemas.openxmlformats.org/drawingml/2006/main" noGrp="1"/>
          </p:cNvSpPr>
          <p:nvPr/>
        </p:nvSpPr>
        <p:spPr>
          <a:xfrm xmlns:a="http://schemas.openxmlformats.org/drawingml/2006/main">
            <a:off x="1295400" y="65341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i="0">
                <a:solidFill>
                  <a:srgbClr val="61737B"/>
                </a:solidFill>
                <a:latin typeface="Arial"/>
                <a:ea typeface="Arial"/>
                <a:cs typeface="Arial"/>
              </a:defRPr>
            </a:pPr>
            <a:r>
              <a:rPr sz="825" b="0" i="0">
                <a:solidFill>
                  <a:srgbClr val="61737B"/>
                </a:solidFill>
                <a:latin typeface="Arial"/>
                <a:ea typeface="Arial"/>
                <a:cs typeface="Arial"/>
              </a:rPr>
              <a:t>ZION TECH HUB  /  REGISTRATION GROWTH DECISION</a:t>
            </a:r>
          </a:p>
        </p:txBody>
      </p:sp>
      <p:sp>
        <p:nvSpPr>
          <p:cNvPr id="6" name="">
            <a:extLst xmlns:a="http://schemas.openxmlformats.org/drawingml/2006/main">
              <a:ext uri="{FF2B5EF4-FFF2-40B4-BE49-F238E27FC236}">
                <a16:creationId xmlns:a16="http://schemas.microsoft.com/office/drawing/2014/main" id="{1EA2B7DD-5308-4793-9637-C6EB823A4021}"/>
              </a:ext>
            </a:extLst>
          </p:cNvPr>
          <p:cNvSpPr>
            <a:spLocks xmlns:a="http://schemas.openxmlformats.org/drawingml/2006/main" noGrp="1"/>
          </p:cNvSpPr>
          <p:nvPr/>
        </p:nvSpPr>
        <p:spPr>
          <a:xfrm xmlns:a="http://schemas.openxmlformats.org/drawingml/2006/main">
            <a:off x="11334750" y="65151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61737B"/>
                </a:solidFill>
                <a:latin typeface="Arial"/>
                <a:ea typeface="Arial"/>
                <a:cs typeface="Arial"/>
              </a:defRPr>
            </a:pPr>
            <a:r>
              <a:rPr sz="900" b="1" i="0">
                <a:solidFill>
                  <a:srgbClr val="61737B"/>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4C955BFD-F09E-4725-9D1D-5E07E882C43F}"/>
              </a:ext>
            </a:extLst>
          </p:cNvPr>
          <p:cNvSpPr>
            <a:spLocks xmlns:a="http://schemas.openxmlformats.org/drawingml/2006/main" noGrp="1"/>
          </p:cNvSpPr>
          <p:nvPr/>
        </p:nvSpPr>
        <p:spPr>
          <a:xfrm xmlns:a="http://schemas.openxmlformats.org/drawingml/2006/main">
            <a:off x="723900" y="179070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i="0">
                <a:solidFill>
                  <a:srgbClr val="12343B"/>
                </a:solidFill>
                <a:latin typeface="Arial"/>
                <a:ea typeface="Arial"/>
                <a:cs typeface="Arial"/>
              </a:defRPr>
            </a:pPr>
            <a:r>
              <a:rPr sz="2325" b="1" i="0">
                <a:solidFill>
                  <a:srgbClr val="12343B"/>
                </a:solidFill>
                <a:latin typeface="Arial"/>
                <a:ea typeface="Arial"/>
                <a:cs typeface="Arial"/>
              </a:rPr>
              <a:t>One channel already does most of the discovery: X/Twitter.</a:t>
            </a:r>
          </a:p>
        </p:txBody>
      </p:sp>
      <p:sp>
        <p:nvSpPr>
          <p:cNvPr id="8" name="">
            <a:extLst xmlns:a="http://schemas.openxmlformats.org/drawingml/2006/main">
              <a:ext uri="{FF2B5EF4-FFF2-40B4-BE49-F238E27FC236}">
                <a16:creationId xmlns:a16="http://schemas.microsoft.com/office/drawing/2014/main" id="{AC93B732-7E03-4626-A118-6F70DF42E29D}"/>
              </a:ext>
            </a:extLst>
          </p:cNvPr>
          <p:cNvSpPr>
            <a:spLocks xmlns:a="http://schemas.openxmlformats.org/drawingml/2006/main" noGrp="1"/>
          </p:cNvSpPr>
          <p:nvPr/>
        </p:nvSpPr>
        <p:spPr>
          <a:xfrm xmlns:a="http://schemas.openxmlformats.org/drawingml/2006/main">
            <a:off x="723900" y="26860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i="0">
                <a:solidFill>
                  <a:srgbClr val="20323D"/>
                </a:solidFill>
                <a:latin typeface="Arial"/>
                <a:ea typeface="Arial"/>
                <a:cs typeface="Arial"/>
              </a:defRPr>
            </a:pPr>
            <a:r>
              <a:rPr sz="2175" b="0" i="0">
                <a:solidFill>
                  <a:srgbClr val="20323D"/>
                </a:solidFill>
                <a:latin typeface="Arial"/>
                <a:ea typeface="Arial"/>
                <a:cs typeface="Arial"/>
              </a:rPr>
              <a:t>The strongest response arrives in short bursts, especially late in the week and in the evening.</a:t>
            </a:r>
          </a:p>
        </p:txBody>
      </p:sp>
      <p:sp>
        <p:nvSpPr>
          <p:cNvPr id="9" name="">
            <a:extLst xmlns:a="http://schemas.openxmlformats.org/drawingml/2006/main">
              <a:ext uri="{FF2B5EF4-FFF2-40B4-BE49-F238E27FC236}">
                <a16:creationId xmlns:a16="http://schemas.microsoft.com/office/drawing/2014/main" id="{CFA6B0C8-87FA-4309-A74D-0B183B35205E}"/>
              </a:ext>
            </a:extLst>
          </p:cNvPr>
          <p:cNvSpPr>
            <a:spLocks xmlns:a="http://schemas.openxmlformats.org/drawingml/2006/main" noGrp="1"/>
          </p:cNvSpPr>
          <p:nvPr/>
        </p:nvSpPr>
        <p:spPr>
          <a:xfrm xmlns:a="http://schemas.openxmlformats.org/drawingml/2006/main">
            <a:off x="723900" y="3581400"/>
            <a:ext cx="1009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i="0">
                <a:solidFill>
                  <a:srgbClr val="20323D"/>
                </a:solidFill>
                <a:latin typeface="Arial"/>
                <a:ea typeface="Arial"/>
                <a:cs typeface="Arial"/>
              </a:defRPr>
            </a:pPr>
            <a:r>
              <a:rPr sz="2175" b="0" i="0">
                <a:solidFill>
                  <a:srgbClr val="20323D"/>
                </a:solidFill>
                <a:latin typeface="Arial"/>
                <a:ea typeface="Arial"/>
                <a:cs typeface="Arial"/>
              </a:rPr>
              <a:t>Data Science remains the anchor demand signal. The other tracks are useful for broadening the audience.</a:t>
            </a:r>
          </a:p>
        </p:txBody>
      </p:sp>
      <p:sp>
        <p:nvSpPr>
          <p:cNvPr id="10" name="">
            <a:extLst xmlns:a="http://schemas.openxmlformats.org/drawingml/2006/main">
              <a:ext uri="{FF2B5EF4-FFF2-40B4-BE49-F238E27FC236}">
                <a16:creationId xmlns:a16="http://schemas.microsoft.com/office/drawing/2014/main" id="{306F8477-4C5F-4E7F-B5C3-297F0596AB00}"/>
              </a:ext>
            </a:extLst>
          </p:cNvPr>
          <p:cNvSpPr>
            <a:spLocks xmlns:a="http://schemas.openxmlformats.org/drawingml/2006/main" noGrp="1"/>
          </p:cNvSpPr>
          <p:nvPr/>
        </p:nvSpPr>
        <p:spPr>
          <a:xfrm xmlns:a="http://schemas.openxmlformats.org/drawingml/2006/main">
            <a:off x="723900" y="44767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i="0">
                <a:solidFill>
                  <a:srgbClr val="20323D"/>
                </a:solidFill>
                <a:latin typeface="Arial"/>
                <a:ea typeface="Arial"/>
                <a:cs typeface="Arial"/>
              </a:defRPr>
            </a:pPr>
            <a:r>
              <a:rPr sz="2175" b="0" i="0">
                <a:solidFill>
                  <a:srgbClr val="20323D"/>
                </a:solidFill>
                <a:latin typeface="Arial"/>
                <a:ea typeface="Arial"/>
                <a:cs typeface="Arial"/>
              </a:rPr>
              <a:t>WhatsApp and referrals look under-activated. They deserve a measurement and sharing loop before they deserve more paid reach.</a:t>
            </a:r>
          </a:p>
        </p:txBody>
      </p:sp>
      <p:sp>
        <p:nvSpPr>
          <p:cNvPr id="11" name="">
            <a:extLst xmlns:a="http://schemas.openxmlformats.org/drawingml/2006/main">
              <a:ext uri="{FF2B5EF4-FFF2-40B4-BE49-F238E27FC236}">
                <a16:creationId xmlns:a16="http://schemas.microsoft.com/office/drawing/2014/main" id="{DF6A1D28-ED54-4584-8E0F-DAC5B1FADE37}"/>
              </a:ext>
            </a:extLst>
          </p:cNvPr>
          <p:cNvSpPr>
            <a:spLocks xmlns:a="http://schemas.openxmlformats.org/drawingml/2006/main" noGrp="1"/>
          </p:cNvSpPr>
          <p:nvPr/>
        </p:nvSpPr>
        <p:spPr>
          <a:xfrm xmlns:a="http://schemas.openxmlformats.org/drawingml/2006/main">
            <a:off x="723900" y="556260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i="0">
                <a:solidFill>
                  <a:srgbClr val="C4523C"/>
                </a:solidFill>
                <a:latin typeface="Arial"/>
                <a:ea typeface="Arial"/>
                <a:cs typeface="Arial"/>
              </a:defRPr>
            </a:pPr>
            <a:r>
              <a:rPr sz="2100" b="1" i="0">
                <a:solidFill>
                  <a:srgbClr val="C4523C"/>
                </a:solidFill>
                <a:latin typeface="Arial"/>
                <a:ea typeface="Arial"/>
                <a:cs typeface="Arial"/>
              </a:rPr>
              <a:t>The first campaign should scale what already works, test professional audiences, and instrument the funnel at the same time.</a:t>
            </a:r>
          </a:p>
        </p:txBody>
      </p:sp>
    </p:spTree>
    <p:extLst>
      <p:ext uri="{BB962C8B-B14F-4D97-AF65-F5344CB8AC3E}">
        <p14:creationId xmlns:p14="http://schemas.microsoft.com/office/powerpoint/2010/main" val="437730386"/>
      </p:ext>
    </p:extLst>
  </p:cSld>
</p:sld>
</file>

<file path=ppt/slides/slide3.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CC26950-782A-468A-9121-8CE5B5EC75CD}"/>
              </a:ext>
            </a:extLst>
          </p:cNvPr>
          <p:cNvSpPr>
            <a:spLocks xmlns:a="http://schemas.openxmlformats.org/drawingml/2006/main" noGrp="1"/>
          </p:cNvSpPr>
          <p:nvPr/>
        </p:nvSpPr>
        <p:spPr>
          <a:xfrm xmlns:a="http://schemas.openxmlformats.org/drawingml/2006/main">
            <a:off x="533400" y="3619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4523C"/>
                </a:solidFill>
                <a:latin typeface="Arial"/>
                <a:ea typeface="Arial"/>
                <a:cs typeface="Arial"/>
              </a:defRPr>
            </a:pPr>
            <a:r>
              <a:rPr sz="975" b="1" i="0">
                <a:solidFill>
                  <a:srgbClr val="C4523C"/>
                </a:solidFill>
                <a:latin typeface="Arial"/>
                <a:ea typeface="Arial"/>
                <a:cs typeface="Arial"/>
              </a:rPr>
              <a:t>THE FIRST BUDGET</a:t>
            </a:r>
          </a:p>
        </p:txBody>
      </p:sp>
      <p:sp>
        <p:nvSpPr>
          <p:cNvPr id="2" name="">
            <a:extLst xmlns:a="http://schemas.openxmlformats.org/drawingml/2006/main">
              <a:ext uri="{FF2B5EF4-FFF2-40B4-BE49-F238E27FC236}">
                <a16:creationId xmlns:a16="http://schemas.microsoft.com/office/drawing/2014/main" id="{71AE273B-54B6-4DD5-A543-497FF81DAB8B}"/>
              </a:ext>
            </a:extLst>
          </p:cNvPr>
          <p:cNvSpPr>
            <a:spLocks xmlns:a="http://schemas.openxmlformats.org/drawingml/2006/main" noGrp="1"/>
          </p:cNvSpPr>
          <p:nvPr/>
        </p:nvSpPr>
        <p:spPr>
          <a:xfrm xmlns:a="http://schemas.openxmlformats.org/drawingml/2006/main">
            <a:off x="533400" y="6286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2343B"/>
                </a:solidFill>
                <a:latin typeface="Arial"/>
                <a:ea typeface="Arial"/>
                <a:cs typeface="Arial"/>
              </a:defRPr>
            </a:pPr>
            <a:r>
              <a:rPr sz="2700" b="1" i="0">
                <a:solidFill>
                  <a:srgbClr val="12343B"/>
                </a:solidFill>
                <a:latin typeface="Arial"/>
                <a:ea typeface="Arial"/>
                <a:cs typeface="Arial"/>
              </a:rPr>
              <a:t>A ₦500,000 pilot with a clear learning agenda</a:t>
            </a:r>
          </a:p>
        </p:txBody>
      </p:sp>
      <p:sp>
        <p:nvSpPr>
          <p:cNvPr id="3" name="">
            <a:extLst xmlns:a="http://schemas.openxmlformats.org/drawingml/2006/main">
              <a:ext uri="{FF2B5EF4-FFF2-40B4-BE49-F238E27FC236}">
                <a16:creationId xmlns:a16="http://schemas.microsoft.com/office/drawing/2014/main" id="{0776105E-1158-427F-A3D2-4649E7BF1796}"/>
              </a:ext>
            </a:extLst>
          </p:cNvPr>
          <p:cNvSpPr>
            <a:spLocks xmlns:a="http://schemas.openxmlformats.org/drawingml/2006/main" noGrp="1"/>
          </p:cNvSpPr>
          <p:nvPr/>
        </p:nvSpPr>
        <p:spPr>
          <a:xfrm xmlns:a="http://schemas.openxmlformats.org/drawingml/2006/main">
            <a:off x="533400" y="1428750"/>
            <a:ext cx="7239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B2051B91-3CB3-41B2-B45B-67D73CDE6018}"/>
              </a:ext>
            </a:extLst>
          </p:cNvPr>
          <p:cNvSpPr>
            <a:spLocks xmlns:a="http://schemas.openxmlformats.org/drawingml/2006/main" noGrp="1"/>
          </p:cNvSpPr>
          <p:nvPr/>
        </p:nvSpPr>
        <p:spPr>
          <a:xfrm xmlns:a="http://schemas.openxmlformats.org/drawingml/2006/main">
            <a:off x="533400" y="6572250"/>
            <a:ext cx="6477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83D43B84-7A84-44DD-8439-26FBB6B0E9AF}"/>
              </a:ext>
            </a:extLst>
          </p:cNvPr>
          <p:cNvSpPr>
            <a:spLocks xmlns:a="http://schemas.openxmlformats.org/drawingml/2006/main" noGrp="1"/>
          </p:cNvSpPr>
          <p:nvPr/>
        </p:nvSpPr>
        <p:spPr>
          <a:xfrm xmlns:a="http://schemas.openxmlformats.org/drawingml/2006/main">
            <a:off x="1295400" y="65341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i="0">
                <a:solidFill>
                  <a:srgbClr val="61737B"/>
                </a:solidFill>
                <a:latin typeface="Arial"/>
                <a:ea typeface="Arial"/>
                <a:cs typeface="Arial"/>
              </a:defRPr>
            </a:pPr>
            <a:r>
              <a:rPr sz="825" b="0" i="0">
                <a:solidFill>
                  <a:srgbClr val="61737B"/>
                </a:solidFill>
                <a:latin typeface="Arial"/>
                <a:ea typeface="Arial"/>
                <a:cs typeface="Arial"/>
              </a:rPr>
              <a:t>ZION TECH HUB  /  REGISTRATION GROWTH DECISION</a:t>
            </a:r>
          </a:p>
        </p:txBody>
      </p:sp>
      <p:sp>
        <p:nvSpPr>
          <p:cNvPr id="6" name="">
            <a:extLst xmlns:a="http://schemas.openxmlformats.org/drawingml/2006/main">
              <a:ext uri="{FF2B5EF4-FFF2-40B4-BE49-F238E27FC236}">
                <a16:creationId xmlns:a16="http://schemas.microsoft.com/office/drawing/2014/main" id="{419CA7DA-99B3-4E5A-AA51-63DC51DCECF0}"/>
              </a:ext>
            </a:extLst>
          </p:cNvPr>
          <p:cNvSpPr>
            <a:spLocks xmlns:a="http://schemas.openxmlformats.org/drawingml/2006/main" noGrp="1"/>
          </p:cNvSpPr>
          <p:nvPr/>
        </p:nvSpPr>
        <p:spPr>
          <a:xfrm xmlns:a="http://schemas.openxmlformats.org/drawingml/2006/main">
            <a:off x="11334750" y="65151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61737B"/>
                </a:solidFill>
                <a:latin typeface="Arial"/>
                <a:ea typeface="Arial"/>
                <a:cs typeface="Arial"/>
              </a:defRPr>
            </a:pPr>
            <a:r>
              <a:rPr sz="900" b="1" i="0">
                <a:solidFill>
                  <a:srgbClr val="6173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6628C59B-967A-4B42-AD7F-2EF25BB5FF19}"/>
              </a:ext>
            </a:extLst>
          </p:cNvPr>
          <p:cNvSpPr>
            <a:spLocks xmlns:a="http://schemas.openxmlformats.org/drawingml/2006/main" noGrp="1"/>
          </p:cNvSpPr>
          <p:nvPr/>
        </p:nvSpPr>
        <p:spPr>
          <a:xfrm xmlns:a="http://schemas.openxmlformats.org/drawingml/2006/main">
            <a:off x="685800" y="1676400"/>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i="0">
                <a:solidFill>
                  <a:srgbClr val="12343B"/>
                </a:solidFill>
                <a:latin typeface="Arial"/>
                <a:ea typeface="Arial"/>
                <a:cs typeface="Arial"/>
              </a:defRPr>
            </a:pPr>
            <a:r>
              <a:rPr sz="1350" b="1" i="0">
                <a:solidFill>
                  <a:srgbClr val="12343B"/>
                </a:solidFill>
                <a:latin typeface="Arial"/>
                <a:ea typeface="Arial"/>
                <a:cs typeface="Arial"/>
              </a:rPr>
              <a:t>Paid media split</a:t>
            </a:r>
          </a:p>
        </p:txBody>
      </p:sp>
      <p:graphicFrame>
        <p:nvGraphicFramePr>
          <p:cNvPr id="25" name="Chart"/>
          <p:cNvGraphicFramePr/>
          <p:nvPr/>
        </p:nvGraphicFramePr>
        <p:xfrm>
          <a:off xmlns:a="http://schemas.openxmlformats.org/drawingml/2006/main" x="609600" y="2095500"/>
          <a:ext xmlns:a="http://schemas.openxmlformats.org/drawingml/2006/main" cx="5810250" cy="3476625"/>
        </p:xfrm>
        <a:graphic xmlns:a="http://schemas.openxmlformats.org/drawingml/2006/main">
          <a:graphicData uri="http://schemas.openxmlformats.org/drawingml/2006/chart">
            <c:chart xmlns:r="http://schemas.openxmlformats.org/officeDocument/2006/relationships" xmlns:c="http://schemas.openxmlformats.org/drawingml/2006/chart" r:id="R8e73e070482b41e2"/>
          </a:graphicData>
        </a:graphic>
      </p:graphicFrame>
      <p:sp>
        <p:nvSpPr>
          <p:cNvPr id="9" name="">
            <a:extLst xmlns:a="http://schemas.openxmlformats.org/drawingml/2006/main">
              <a:ext uri="{FF2B5EF4-FFF2-40B4-BE49-F238E27FC236}">
                <a16:creationId xmlns:a16="http://schemas.microsoft.com/office/drawing/2014/main" id="{69B53EE5-583F-4979-A975-751BD561E6AC}"/>
              </a:ext>
            </a:extLst>
          </p:cNvPr>
          <p:cNvSpPr>
            <a:spLocks xmlns:a="http://schemas.openxmlformats.org/drawingml/2006/main" noGrp="1"/>
          </p:cNvSpPr>
          <p:nvPr/>
        </p:nvSpPr>
        <p:spPr>
          <a:xfrm xmlns:a="http://schemas.openxmlformats.org/drawingml/2006/main">
            <a:off x="6762750" y="20574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C4523C"/>
                </a:solidFill>
                <a:latin typeface="Arial"/>
                <a:ea typeface="Arial"/>
                <a:cs typeface="Arial"/>
              </a:defRPr>
            </a:pPr>
            <a:r>
              <a:rPr sz="1650" b="1" i="0">
                <a:solidFill>
                  <a:srgbClr val="C4523C"/>
                </a:solidFill>
                <a:latin typeface="Arial"/>
                <a:ea typeface="Arial"/>
                <a:cs typeface="Arial"/>
              </a:rPr>
              <a:t>60%  /  ₦300k</a:t>
            </a:r>
          </a:p>
        </p:txBody>
      </p:sp>
      <p:sp>
        <p:nvSpPr>
          <p:cNvPr id="10" name="">
            <a:extLst xmlns:a="http://schemas.openxmlformats.org/drawingml/2006/main">
              <a:ext uri="{FF2B5EF4-FFF2-40B4-BE49-F238E27FC236}">
                <a16:creationId xmlns:a16="http://schemas.microsoft.com/office/drawing/2014/main" id="{6A1F15EF-757F-425B-AE62-1BAE2FEE1ECD}"/>
              </a:ext>
            </a:extLst>
          </p:cNvPr>
          <p:cNvSpPr>
            <a:spLocks xmlns:a="http://schemas.openxmlformats.org/drawingml/2006/main" noGrp="1"/>
          </p:cNvSpPr>
          <p:nvPr/>
        </p:nvSpPr>
        <p:spPr>
          <a:xfrm xmlns:a="http://schemas.openxmlformats.org/drawingml/2006/main">
            <a:off x="6762750" y="2400300"/>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20323D"/>
                </a:solidFill>
                <a:latin typeface="Arial"/>
                <a:ea typeface="Arial"/>
                <a:cs typeface="Arial"/>
              </a:defRPr>
            </a:pPr>
            <a:r>
              <a:rPr sz="1500" b="0" i="0">
                <a:solidFill>
                  <a:srgbClr val="20323D"/>
                </a:solidFill>
                <a:latin typeface="Arial"/>
                <a:ea typeface="Arial"/>
                <a:cs typeface="Arial"/>
              </a:rPr>
              <a:t>X/Twitter</a:t>
            </a:r>
          </a:p>
          <a:p xmlns:a="http://schemas.openxmlformats.org/drawingml/2006/main">
            <a:pPr>
              <a:defRPr sz="1500" b="0" i="0">
                <a:solidFill>
                  <a:srgbClr val="20323D"/>
                </a:solidFill>
                <a:latin typeface="Arial"/>
                <a:ea typeface="Arial"/>
                <a:cs typeface="Arial"/>
              </a:defRPr>
            </a:pPr>
            <a:r>
              <a:rPr sz="1500" b="0" i="0">
                <a:solidFill>
                  <a:srgbClr val="20323D"/>
                </a:solidFill>
                <a:latin typeface="Arial"/>
                <a:ea typeface="Arial"/>
                <a:cs typeface="Arial"/>
              </a:rPr>
              <a:t>Scale the proven registration source.</a:t>
            </a:r>
          </a:p>
        </p:txBody>
      </p:sp>
      <p:sp>
        <p:nvSpPr>
          <p:cNvPr id="11" name="">
            <a:extLst xmlns:a="http://schemas.openxmlformats.org/drawingml/2006/main">
              <a:ext uri="{FF2B5EF4-FFF2-40B4-BE49-F238E27FC236}">
                <a16:creationId xmlns:a16="http://schemas.microsoft.com/office/drawing/2014/main" id="{444CDDA9-C08E-4AD2-B2E1-B82C2D3E0DAA}"/>
              </a:ext>
            </a:extLst>
          </p:cNvPr>
          <p:cNvSpPr>
            <a:spLocks xmlns:a="http://schemas.openxmlformats.org/drawingml/2006/main" noGrp="1"/>
          </p:cNvSpPr>
          <p:nvPr/>
        </p:nvSpPr>
        <p:spPr>
          <a:xfrm xmlns:a="http://schemas.openxmlformats.org/drawingml/2006/main">
            <a:off x="6762750" y="32194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12343B"/>
                </a:solidFill>
                <a:latin typeface="Arial"/>
                <a:ea typeface="Arial"/>
                <a:cs typeface="Arial"/>
              </a:defRPr>
            </a:pPr>
            <a:r>
              <a:rPr sz="1650" b="1" i="0">
                <a:solidFill>
                  <a:srgbClr val="12343B"/>
                </a:solidFill>
                <a:latin typeface="Arial"/>
                <a:ea typeface="Arial"/>
                <a:cs typeface="Arial"/>
              </a:rPr>
              <a:t>25%  /  ₦125k</a:t>
            </a:r>
          </a:p>
        </p:txBody>
      </p:sp>
      <p:sp>
        <p:nvSpPr>
          <p:cNvPr id="12" name="">
            <a:extLst xmlns:a="http://schemas.openxmlformats.org/drawingml/2006/main">
              <a:ext uri="{FF2B5EF4-FFF2-40B4-BE49-F238E27FC236}">
                <a16:creationId xmlns:a16="http://schemas.microsoft.com/office/drawing/2014/main" id="{3525A206-99A5-4160-AF54-58C8E2F983F1}"/>
              </a:ext>
            </a:extLst>
          </p:cNvPr>
          <p:cNvSpPr>
            <a:spLocks xmlns:a="http://schemas.openxmlformats.org/drawingml/2006/main" noGrp="1"/>
          </p:cNvSpPr>
          <p:nvPr/>
        </p:nvSpPr>
        <p:spPr>
          <a:xfrm xmlns:a="http://schemas.openxmlformats.org/drawingml/2006/main">
            <a:off x="6762750" y="3562350"/>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20323D"/>
                </a:solidFill>
                <a:latin typeface="Arial"/>
                <a:ea typeface="Arial"/>
                <a:cs typeface="Arial"/>
              </a:defRPr>
            </a:pPr>
            <a:r>
              <a:rPr sz="1500" b="0" i="0">
                <a:solidFill>
                  <a:srgbClr val="20323D"/>
                </a:solidFill>
                <a:latin typeface="Arial"/>
                <a:ea typeface="Arial"/>
                <a:cs typeface="Arial"/>
              </a:rPr>
              <a:t>LinkedIn</a:t>
            </a:r>
          </a:p>
          <a:p xmlns:a="http://schemas.openxmlformats.org/drawingml/2006/main">
            <a:pPr>
              <a:defRPr sz="1500" b="0" i="0">
                <a:solidFill>
                  <a:srgbClr val="20323D"/>
                </a:solidFill>
                <a:latin typeface="Arial"/>
                <a:ea typeface="Arial"/>
                <a:cs typeface="Arial"/>
              </a:defRPr>
            </a:pPr>
            <a:r>
              <a:rPr sz="1500" b="0" i="0">
                <a:solidFill>
                  <a:srgbClr val="20323D"/>
                </a:solidFill>
                <a:latin typeface="Arial"/>
                <a:ea typeface="Arial"/>
                <a:cs typeface="Arial"/>
              </a:rPr>
              <a:t>Test professional audiences and course-led messages.</a:t>
            </a:r>
          </a:p>
        </p:txBody>
      </p:sp>
      <p:sp>
        <p:nvSpPr>
          <p:cNvPr id="13" name="">
            <a:extLst xmlns:a="http://schemas.openxmlformats.org/drawingml/2006/main">
              <a:ext uri="{FF2B5EF4-FFF2-40B4-BE49-F238E27FC236}">
                <a16:creationId xmlns:a16="http://schemas.microsoft.com/office/drawing/2014/main" id="{941FD750-B21D-4846-8C21-3856E00B07F1}"/>
              </a:ext>
            </a:extLst>
          </p:cNvPr>
          <p:cNvSpPr>
            <a:spLocks xmlns:a="http://schemas.openxmlformats.org/drawingml/2006/main" noGrp="1"/>
          </p:cNvSpPr>
          <p:nvPr/>
        </p:nvSpPr>
        <p:spPr>
          <a:xfrm xmlns:a="http://schemas.openxmlformats.org/drawingml/2006/main">
            <a:off x="6762750" y="43815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E28E54"/>
                </a:solidFill>
                <a:latin typeface="Arial"/>
                <a:ea typeface="Arial"/>
                <a:cs typeface="Arial"/>
              </a:defRPr>
            </a:pPr>
            <a:r>
              <a:rPr sz="1650" b="1" i="0">
                <a:solidFill>
                  <a:srgbClr val="E28E54"/>
                </a:solidFill>
                <a:latin typeface="Arial"/>
                <a:ea typeface="Arial"/>
                <a:cs typeface="Arial"/>
              </a:rPr>
              <a:t>10%  /  ₦50k</a:t>
            </a:r>
          </a:p>
        </p:txBody>
      </p:sp>
      <p:sp>
        <p:nvSpPr>
          <p:cNvPr id="14" name="">
            <a:extLst xmlns:a="http://schemas.openxmlformats.org/drawingml/2006/main">
              <a:ext uri="{FF2B5EF4-FFF2-40B4-BE49-F238E27FC236}">
                <a16:creationId xmlns:a16="http://schemas.microsoft.com/office/drawing/2014/main" id="{B56D7AFA-14E6-446C-92E7-E2D4F553125A}"/>
              </a:ext>
            </a:extLst>
          </p:cNvPr>
          <p:cNvSpPr>
            <a:spLocks xmlns:a="http://schemas.openxmlformats.org/drawingml/2006/main" noGrp="1"/>
          </p:cNvSpPr>
          <p:nvPr/>
        </p:nvSpPr>
        <p:spPr>
          <a:xfrm xmlns:a="http://schemas.openxmlformats.org/drawingml/2006/main">
            <a:off x="6762750" y="4724400"/>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20323D"/>
                </a:solidFill>
                <a:latin typeface="Arial"/>
                <a:ea typeface="Arial"/>
                <a:cs typeface="Arial"/>
              </a:defRPr>
            </a:pPr>
            <a:r>
              <a:rPr sz="1500" b="0" i="0">
                <a:solidFill>
                  <a:srgbClr val="20323D"/>
                </a:solidFill>
                <a:latin typeface="Arial"/>
                <a:ea typeface="Arial"/>
                <a:cs typeface="Arial"/>
              </a:rPr>
              <a:t>Facebook / Instagram</a:t>
            </a:r>
          </a:p>
          <a:p xmlns:a="http://schemas.openxmlformats.org/drawingml/2006/main">
            <a:pPr>
              <a:defRPr sz="1500" b="0" i="0">
                <a:solidFill>
                  <a:srgbClr val="20323D"/>
                </a:solidFill>
                <a:latin typeface="Arial"/>
                <a:ea typeface="Arial"/>
                <a:cs typeface="Arial"/>
              </a:defRPr>
            </a:pPr>
            <a:r>
              <a:rPr sz="1500" b="0" i="0">
                <a:solidFill>
                  <a:srgbClr val="20323D"/>
                </a:solidFill>
                <a:latin typeface="Arial"/>
                <a:ea typeface="Arial"/>
                <a:cs typeface="Arial"/>
              </a:rPr>
              <a:t>Controlled test only. Organic signal is low.</a:t>
            </a:r>
          </a:p>
        </p:txBody>
      </p:sp>
      <p:sp>
        <p:nvSpPr>
          <p:cNvPr id="15" name="">
            <a:extLst xmlns:a="http://schemas.openxmlformats.org/drawingml/2006/main">
              <a:ext uri="{FF2B5EF4-FFF2-40B4-BE49-F238E27FC236}">
                <a16:creationId xmlns:a16="http://schemas.microsoft.com/office/drawing/2014/main" id="{D6FFBFC4-6FF7-4B3A-B310-F95B91FBA203}"/>
              </a:ext>
            </a:extLst>
          </p:cNvPr>
          <p:cNvSpPr>
            <a:spLocks xmlns:a="http://schemas.openxmlformats.org/drawingml/2006/main" noGrp="1"/>
          </p:cNvSpPr>
          <p:nvPr/>
        </p:nvSpPr>
        <p:spPr>
          <a:xfrm xmlns:a="http://schemas.openxmlformats.org/drawingml/2006/main">
            <a:off x="6762750" y="55435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E9B35E"/>
                </a:solidFill>
                <a:latin typeface="Arial"/>
                <a:ea typeface="Arial"/>
                <a:cs typeface="Arial"/>
              </a:defRPr>
            </a:pPr>
            <a:r>
              <a:rPr sz="1650" b="1" i="0">
                <a:solidFill>
                  <a:srgbClr val="E9B35E"/>
                </a:solidFill>
                <a:latin typeface="Arial"/>
                <a:ea typeface="Arial"/>
                <a:cs typeface="Arial"/>
              </a:rPr>
              <a:t>5%  /  ₦25k</a:t>
            </a:r>
          </a:p>
        </p:txBody>
      </p:sp>
      <p:sp>
        <p:nvSpPr>
          <p:cNvPr id="16" name="">
            <a:extLst xmlns:a="http://schemas.openxmlformats.org/drawingml/2006/main">
              <a:ext uri="{FF2B5EF4-FFF2-40B4-BE49-F238E27FC236}">
                <a16:creationId xmlns:a16="http://schemas.microsoft.com/office/drawing/2014/main" id="{1430AD5C-5603-4BA6-9BA0-025D8BF6E55B}"/>
              </a:ext>
            </a:extLst>
          </p:cNvPr>
          <p:cNvSpPr>
            <a:spLocks xmlns:a="http://schemas.openxmlformats.org/drawingml/2006/main" noGrp="1"/>
          </p:cNvSpPr>
          <p:nvPr/>
        </p:nvSpPr>
        <p:spPr>
          <a:xfrm xmlns:a="http://schemas.openxmlformats.org/drawingml/2006/main">
            <a:off x="6762750" y="588645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20323D"/>
                </a:solidFill>
                <a:latin typeface="Arial"/>
                <a:ea typeface="Arial"/>
                <a:cs typeface="Arial"/>
              </a:defRPr>
            </a:pPr>
            <a:r>
              <a:rPr sz="1500" b="0" i="0">
                <a:solidFill>
                  <a:srgbClr val="20323D"/>
                </a:solidFill>
                <a:latin typeface="Arial"/>
                <a:ea typeface="Arial"/>
                <a:cs typeface="Arial"/>
              </a:rPr>
              <a:t>Tracking + creative</a:t>
            </a:r>
          </a:p>
          <a:p xmlns:a="http://schemas.openxmlformats.org/drawingml/2006/main">
            <a:pPr>
              <a:defRPr sz="1500" b="0" i="0">
                <a:solidFill>
                  <a:srgbClr val="20323D"/>
                </a:solidFill>
                <a:latin typeface="Arial"/>
                <a:ea typeface="Arial"/>
                <a:cs typeface="Arial"/>
              </a:defRPr>
            </a:pPr>
            <a:r>
              <a:rPr sz="1500" b="0" i="0">
                <a:solidFill>
                  <a:srgbClr val="20323D"/>
                </a:solidFill>
                <a:latin typeface="Arial"/>
                <a:ea typeface="Arial"/>
                <a:cs typeface="Arial"/>
              </a:rPr>
              <a:t>UTM, landing-page and creative tests.</a:t>
            </a:r>
          </a:p>
        </p:txBody>
      </p:sp>
      <p:sp>
        <p:nvSpPr>
          <p:cNvPr id="17" name="">
            <a:extLst xmlns:a="http://schemas.openxmlformats.org/drawingml/2006/main">
              <a:ext uri="{FF2B5EF4-FFF2-40B4-BE49-F238E27FC236}">
                <a16:creationId xmlns:a16="http://schemas.microsoft.com/office/drawing/2014/main" id="{ECE1BC59-0743-4331-8758-1ACD3C6A6553}"/>
              </a:ext>
            </a:extLst>
          </p:cNvPr>
          <p:cNvSpPr>
            <a:spLocks xmlns:a="http://schemas.openxmlformats.org/drawingml/2006/main" noGrp="1"/>
          </p:cNvSpPr>
          <p:nvPr/>
        </p:nvSpPr>
        <p:spPr>
          <a:xfrm xmlns:a="http://schemas.openxmlformats.org/drawingml/2006/main">
            <a:off x="685800" y="5810250"/>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1">
                <a:solidFill>
                  <a:srgbClr val="61737B"/>
                </a:solidFill>
                <a:latin typeface="Arial"/>
                <a:ea typeface="Arial"/>
                <a:cs typeface="Arial"/>
              </a:defRPr>
            </a:pPr>
            <a:r>
              <a:rPr sz="1275" b="0" i="1">
                <a:solidFill>
                  <a:srgbClr val="61737B"/>
                </a:solidFill>
                <a:latin typeface="Arial"/>
                <a:ea typeface="Arial"/>
                <a:cs typeface="Arial"/>
              </a:rPr>
              <a:t>Audience weighting inside paid media: 45% Data Science / AI / ML and early-career, 20% Sales &amp; Marketing and business, 15% Finance, 10% Healthcare, 10% Supply Chain / Operations.</a:t>
            </a:r>
          </a:p>
        </p:txBody>
      </p:sp>
    </p:spTree>
    <p:extLst>
      <p:ext uri="{BB962C8B-B14F-4D97-AF65-F5344CB8AC3E}">
        <p14:creationId xmlns:p14="http://schemas.microsoft.com/office/powerpoint/2010/main" val="995504915"/>
      </p:ext>
    </p:extLst>
  </p:cSld>
</p:sld>
</file>

<file path=ppt/slides/slide4.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D6A7517-CF15-497B-ADED-F6BE914C8363}"/>
              </a:ext>
            </a:extLst>
          </p:cNvPr>
          <p:cNvSpPr>
            <a:spLocks xmlns:a="http://schemas.openxmlformats.org/drawingml/2006/main" noGrp="1"/>
          </p:cNvSpPr>
          <p:nvPr/>
        </p:nvSpPr>
        <p:spPr>
          <a:xfrm xmlns:a="http://schemas.openxmlformats.org/drawingml/2006/main">
            <a:off x="533400" y="3619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4523C"/>
                </a:solidFill>
                <a:latin typeface="Arial"/>
                <a:ea typeface="Arial"/>
                <a:cs typeface="Arial"/>
              </a:defRPr>
            </a:pPr>
            <a:r>
              <a:rPr sz="975" b="1" i="0">
                <a:solidFill>
                  <a:srgbClr val="C4523C"/>
                </a:solidFill>
                <a:latin typeface="Arial"/>
                <a:ea typeface="Arial"/>
                <a:cs typeface="Arial"/>
              </a:rPr>
              <a:t>CHANNEL SIGNAL</a:t>
            </a:r>
          </a:p>
        </p:txBody>
      </p:sp>
      <p:sp>
        <p:nvSpPr>
          <p:cNvPr id="2" name="">
            <a:extLst xmlns:a="http://schemas.openxmlformats.org/drawingml/2006/main">
              <a:ext uri="{FF2B5EF4-FFF2-40B4-BE49-F238E27FC236}">
                <a16:creationId xmlns:a16="http://schemas.microsoft.com/office/drawing/2014/main" id="{DE5D4D89-5E2A-468A-940E-EBFCC03654D3}"/>
              </a:ext>
            </a:extLst>
          </p:cNvPr>
          <p:cNvSpPr>
            <a:spLocks xmlns:a="http://schemas.openxmlformats.org/drawingml/2006/main" noGrp="1"/>
          </p:cNvSpPr>
          <p:nvPr/>
        </p:nvSpPr>
        <p:spPr>
          <a:xfrm xmlns:a="http://schemas.openxmlformats.org/drawingml/2006/main">
            <a:off x="533400" y="6286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2343B"/>
                </a:solidFill>
                <a:latin typeface="Arial"/>
                <a:ea typeface="Arial"/>
                <a:cs typeface="Arial"/>
              </a:defRPr>
            </a:pPr>
            <a:r>
              <a:rPr sz="2700" b="1" i="0">
                <a:solidFill>
                  <a:srgbClr val="12343B"/>
                </a:solidFill>
                <a:latin typeface="Arial"/>
                <a:ea typeface="Arial"/>
                <a:cs typeface="Arial"/>
              </a:rPr>
              <a:t>X/Twitter gained share while WhatsApp and LinkedIn faded</a:t>
            </a:r>
          </a:p>
        </p:txBody>
      </p:sp>
      <p:sp>
        <p:nvSpPr>
          <p:cNvPr id="3" name="">
            <a:extLst xmlns:a="http://schemas.openxmlformats.org/drawingml/2006/main">
              <a:ext uri="{FF2B5EF4-FFF2-40B4-BE49-F238E27FC236}">
                <a16:creationId xmlns:a16="http://schemas.microsoft.com/office/drawing/2014/main" id="{1769FE62-0397-4C0E-BF91-4027360216E7}"/>
              </a:ext>
            </a:extLst>
          </p:cNvPr>
          <p:cNvSpPr>
            <a:spLocks xmlns:a="http://schemas.openxmlformats.org/drawingml/2006/main" noGrp="1"/>
          </p:cNvSpPr>
          <p:nvPr/>
        </p:nvSpPr>
        <p:spPr>
          <a:xfrm xmlns:a="http://schemas.openxmlformats.org/drawingml/2006/main">
            <a:off x="533400" y="1428750"/>
            <a:ext cx="7239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9B2500B1-FF3D-445A-B868-936F7899C61A}"/>
              </a:ext>
            </a:extLst>
          </p:cNvPr>
          <p:cNvSpPr>
            <a:spLocks xmlns:a="http://schemas.openxmlformats.org/drawingml/2006/main" noGrp="1"/>
          </p:cNvSpPr>
          <p:nvPr/>
        </p:nvSpPr>
        <p:spPr>
          <a:xfrm xmlns:a="http://schemas.openxmlformats.org/drawingml/2006/main">
            <a:off x="533400" y="6572250"/>
            <a:ext cx="6477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5B190060-2994-4FF7-AA80-0E0961BAD420}"/>
              </a:ext>
            </a:extLst>
          </p:cNvPr>
          <p:cNvSpPr>
            <a:spLocks xmlns:a="http://schemas.openxmlformats.org/drawingml/2006/main" noGrp="1"/>
          </p:cNvSpPr>
          <p:nvPr/>
        </p:nvSpPr>
        <p:spPr>
          <a:xfrm xmlns:a="http://schemas.openxmlformats.org/drawingml/2006/main">
            <a:off x="1295400" y="65341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i="0">
                <a:solidFill>
                  <a:srgbClr val="61737B"/>
                </a:solidFill>
                <a:latin typeface="Arial"/>
                <a:ea typeface="Arial"/>
                <a:cs typeface="Arial"/>
              </a:defRPr>
            </a:pPr>
            <a:r>
              <a:rPr sz="825" b="0" i="0">
                <a:solidFill>
                  <a:srgbClr val="61737B"/>
                </a:solidFill>
                <a:latin typeface="Arial"/>
                <a:ea typeface="Arial"/>
                <a:cs typeface="Arial"/>
              </a:rPr>
              <a:t>ZION TECH HUB  /  REGISTRATION GROWTH DECISION</a:t>
            </a:r>
          </a:p>
        </p:txBody>
      </p:sp>
      <p:sp>
        <p:nvSpPr>
          <p:cNvPr id="6" name="">
            <a:extLst xmlns:a="http://schemas.openxmlformats.org/drawingml/2006/main">
              <a:ext uri="{FF2B5EF4-FFF2-40B4-BE49-F238E27FC236}">
                <a16:creationId xmlns:a16="http://schemas.microsoft.com/office/drawing/2014/main" id="{1FB47561-C25D-43D9-B854-D1BB758734FE}"/>
              </a:ext>
            </a:extLst>
          </p:cNvPr>
          <p:cNvSpPr>
            <a:spLocks xmlns:a="http://schemas.openxmlformats.org/drawingml/2006/main" noGrp="1"/>
          </p:cNvSpPr>
          <p:nvPr/>
        </p:nvSpPr>
        <p:spPr>
          <a:xfrm xmlns:a="http://schemas.openxmlformats.org/drawingml/2006/main">
            <a:off x="11334750" y="65151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61737B"/>
                </a:solidFill>
                <a:latin typeface="Arial"/>
                <a:ea typeface="Arial"/>
                <a:cs typeface="Arial"/>
              </a:defRPr>
            </a:pPr>
            <a:r>
              <a:rPr sz="900" b="1" i="0">
                <a:solidFill>
                  <a:srgbClr val="61737B"/>
                </a:solidFill>
                <a:latin typeface="Arial"/>
                <a:ea typeface="Arial"/>
                <a:cs typeface="Arial"/>
              </a:rPr>
              <a:t>04</a:t>
            </a:r>
          </a:p>
        </p:txBody>
      </p:sp>
      <p:graphicFrame>
        <p:nvGraphicFramePr>
          <p:cNvPr id="17" name="Chart"/>
          <p:cNvGraphicFramePr/>
          <p:nvPr/>
        </p:nvGraphicFramePr>
        <p:xfrm>
          <a:off xmlns:a="http://schemas.openxmlformats.org/drawingml/2006/main" x="666750" y="1752600"/>
          <a:ext xmlns:a="http://schemas.openxmlformats.org/drawingml/2006/main" cx="10858500" cy="3810000"/>
        </p:xfrm>
        <a:graphic xmlns:a="http://schemas.openxmlformats.org/drawingml/2006/main">
          <a:graphicData uri="http://schemas.openxmlformats.org/drawingml/2006/chart">
            <c:chart xmlns:r="http://schemas.openxmlformats.org/officeDocument/2006/relationships" xmlns:c="http://schemas.openxmlformats.org/drawingml/2006/chart" r:id="R1aa5622050834263"/>
          </a:graphicData>
        </a:graphic>
      </p:graphicFrame>
      <p:sp>
        <p:nvSpPr>
          <p:cNvPr id="8" name="">
            <a:extLst xmlns:a="http://schemas.openxmlformats.org/drawingml/2006/main">
              <a:ext uri="{FF2B5EF4-FFF2-40B4-BE49-F238E27FC236}">
                <a16:creationId xmlns:a16="http://schemas.microsoft.com/office/drawing/2014/main" id="{C7BD2AC9-C678-4A02-9338-D03319C8ED88}"/>
              </a:ext>
            </a:extLst>
          </p:cNvPr>
          <p:cNvSpPr>
            <a:spLocks xmlns:a="http://schemas.openxmlformats.org/drawingml/2006/main" noGrp="1"/>
          </p:cNvSpPr>
          <p:nvPr/>
        </p:nvSpPr>
        <p:spPr>
          <a:xfrm xmlns:a="http://schemas.openxmlformats.org/drawingml/2006/main">
            <a:off x="819150" y="5715000"/>
            <a:ext cx="3143250" cy="323850"/>
          </a:xfrm>
          <a:prstGeom xmlns:a="http://schemas.openxmlformats.org/drawingml/2006/main" prst="rect">
            <a:avLst/>
          </a:prstGeom>
          <a:solidFill xmlns:a="http://schemas.openxmlformats.org/drawingml/2006/main">
            <a:srgbClr val="DDEAE6"/>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i="0">
                <a:solidFill>
                  <a:srgbClr val="12343B"/>
                </a:solidFill>
                <a:latin typeface="Arial"/>
                <a:ea typeface="Arial"/>
                <a:cs typeface="Arial"/>
              </a:defRPr>
            </a:pPr>
            <a:r>
              <a:rPr sz="1125" b="1" i="0">
                <a:solidFill>
                  <a:srgbClr val="12343B"/>
                </a:solidFill>
                <a:latin typeface="Arial"/>
                <a:ea typeface="Arial"/>
                <a:cs typeface="Arial"/>
              </a:rPr>
              <a:t>X/Twitter: 62.6% → 86.5%</a:t>
            </a:r>
          </a:p>
        </p:txBody>
      </p:sp>
      <p:sp>
        <p:nvSpPr>
          <p:cNvPr id="9" name="">
            <a:extLst xmlns:a="http://schemas.openxmlformats.org/drawingml/2006/main">
              <a:ext uri="{FF2B5EF4-FFF2-40B4-BE49-F238E27FC236}">
                <a16:creationId xmlns:a16="http://schemas.microsoft.com/office/drawing/2014/main" id="{135875D6-056F-4E23-8813-BDE3773DCCCC}"/>
              </a:ext>
            </a:extLst>
          </p:cNvPr>
          <p:cNvSpPr>
            <a:spLocks xmlns:a="http://schemas.openxmlformats.org/drawingml/2006/main" noGrp="1"/>
          </p:cNvSpPr>
          <p:nvPr/>
        </p:nvSpPr>
        <p:spPr>
          <a:xfrm xmlns:a="http://schemas.openxmlformats.org/drawingml/2006/main">
            <a:off x="4333875" y="5715000"/>
            <a:ext cx="3143250" cy="323850"/>
          </a:xfrm>
          <a:prstGeom xmlns:a="http://schemas.openxmlformats.org/drawingml/2006/main" prst="rect">
            <a:avLst/>
          </a:prstGeom>
          <a:solidFill xmlns:a="http://schemas.openxmlformats.org/drawingml/2006/main">
            <a:srgbClr val="F5DED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i="0">
                <a:solidFill>
                  <a:srgbClr val="C4523C"/>
                </a:solidFill>
                <a:latin typeface="Arial"/>
                <a:ea typeface="Arial"/>
                <a:cs typeface="Arial"/>
              </a:defRPr>
            </a:pPr>
            <a:r>
              <a:rPr sz="1125" b="1" i="0">
                <a:solidFill>
                  <a:srgbClr val="C4523C"/>
                </a:solidFill>
                <a:latin typeface="Arial"/>
                <a:ea typeface="Arial"/>
                <a:cs typeface="Arial"/>
              </a:rPr>
              <a:t>WhatsApp: 18.3% → 2.9%</a:t>
            </a:r>
          </a:p>
        </p:txBody>
      </p:sp>
      <p:sp>
        <p:nvSpPr>
          <p:cNvPr id="10" name="">
            <a:extLst xmlns:a="http://schemas.openxmlformats.org/drawingml/2006/main">
              <a:ext uri="{FF2B5EF4-FFF2-40B4-BE49-F238E27FC236}">
                <a16:creationId xmlns:a16="http://schemas.microsoft.com/office/drawing/2014/main" id="{BC743723-104B-4ED7-8EA4-E599CD206411}"/>
              </a:ext>
            </a:extLst>
          </p:cNvPr>
          <p:cNvSpPr>
            <a:spLocks xmlns:a="http://schemas.openxmlformats.org/drawingml/2006/main" noGrp="1"/>
          </p:cNvSpPr>
          <p:nvPr/>
        </p:nvSpPr>
        <p:spPr>
          <a:xfrm xmlns:a="http://schemas.openxmlformats.org/drawingml/2006/main">
            <a:off x="7848600" y="5715000"/>
            <a:ext cx="3143250" cy="323850"/>
          </a:xfrm>
          <a:prstGeom xmlns:a="http://schemas.openxmlformats.org/drawingml/2006/main" prst="rect">
            <a:avLst/>
          </a:prstGeom>
          <a:solidFill xmlns:a="http://schemas.openxmlformats.org/drawingml/2006/main">
            <a:srgbClr val="E8E1CF"/>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i="0">
                <a:solidFill>
                  <a:srgbClr val="12343B"/>
                </a:solidFill>
                <a:latin typeface="Arial"/>
                <a:ea typeface="Arial"/>
                <a:cs typeface="Arial"/>
              </a:defRPr>
            </a:pPr>
            <a:r>
              <a:rPr sz="1125" b="1" i="0">
                <a:solidFill>
                  <a:srgbClr val="12343B"/>
                </a:solidFill>
                <a:latin typeface="Arial"/>
                <a:ea typeface="Arial"/>
                <a:cs typeface="Arial"/>
              </a:rPr>
              <a:t>LinkedIn: 15.1% → 7.0%</a:t>
            </a:r>
          </a:p>
        </p:txBody>
      </p:sp>
    </p:spTree>
    <p:extLst>
      <p:ext uri="{BB962C8B-B14F-4D97-AF65-F5344CB8AC3E}">
        <p14:creationId xmlns:p14="http://schemas.microsoft.com/office/powerpoint/2010/main" val="2026018738"/>
      </p:ext>
    </p:extLst>
  </p:cSld>
</p:sld>
</file>

<file path=ppt/slides/slide5.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4163565-3B2F-4E4E-BA89-FD6981C0C807}"/>
              </a:ext>
            </a:extLst>
          </p:cNvPr>
          <p:cNvSpPr>
            <a:spLocks xmlns:a="http://schemas.openxmlformats.org/drawingml/2006/main" noGrp="1"/>
          </p:cNvSpPr>
          <p:nvPr/>
        </p:nvSpPr>
        <p:spPr>
          <a:xfrm xmlns:a="http://schemas.openxmlformats.org/drawingml/2006/main">
            <a:off x="533400" y="3619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4523C"/>
                </a:solidFill>
                <a:latin typeface="Arial"/>
                <a:ea typeface="Arial"/>
                <a:cs typeface="Arial"/>
              </a:defRPr>
            </a:pPr>
            <a:r>
              <a:rPr sz="975" b="1" i="0">
                <a:solidFill>
                  <a:srgbClr val="C4523C"/>
                </a:solidFill>
                <a:latin typeface="Arial"/>
                <a:ea typeface="Arial"/>
                <a:cs typeface="Arial"/>
              </a:rPr>
              <a:t>DEMAND PATTERN</a:t>
            </a:r>
          </a:p>
        </p:txBody>
      </p:sp>
      <p:sp>
        <p:nvSpPr>
          <p:cNvPr id="2" name="">
            <a:extLst xmlns:a="http://schemas.openxmlformats.org/drawingml/2006/main">
              <a:ext uri="{FF2B5EF4-FFF2-40B4-BE49-F238E27FC236}">
                <a16:creationId xmlns:a16="http://schemas.microsoft.com/office/drawing/2014/main" id="{45567EAE-DE5C-4D5D-A536-D1A26CF2D027}"/>
              </a:ext>
            </a:extLst>
          </p:cNvPr>
          <p:cNvSpPr>
            <a:spLocks xmlns:a="http://schemas.openxmlformats.org/drawingml/2006/main" noGrp="1"/>
          </p:cNvSpPr>
          <p:nvPr/>
        </p:nvSpPr>
        <p:spPr>
          <a:xfrm xmlns:a="http://schemas.openxmlformats.org/drawingml/2006/main">
            <a:off x="533400" y="6286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2343B"/>
                </a:solidFill>
                <a:latin typeface="Arial"/>
                <a:ea typeface="Arial"/>
                <a:cs typeface="Arial"/>
              </a:defRPr>
            </a:pPr>
            <a:r>
              <a:rPr sz="2700" b="1" i="0">
                <a:solidFill>
                  <a:srgbClr val="12343B"/>
                </a:solidFill>
                <a:latin typeface="Arial"/>
                <a:ea typeface="Arial"/>
                <a:cs typeface="Arial"/>
              </a:rPr>
              <a:t>Registrations arrive in bursts, not evenly over time</a:t>
            </a:r>
          </a:p>
        </p:txBody>
      </p:sp>
      <p:sp>
        <p:nvSpPr>
          <p:cNvPr id="3" name="">
            <a:extLst xmlns:a="http://schemas.openxmlformats.org/drawingml/2006/main">
              <a:ext uri="{FF2B5EF4-FFF2-40B4-BE49-F238E27FC236}">
                <a16:creationId xmlns:a16="http://schemas.microsoft.com/office/drawing/2014/main" id="{D5435883-E4AB-4AB4-B51A-7AB43FCB8CBF}"/>
              </a:ext>
            </a:extLst>
          </p:cNvPr>
          <p:cNvSpPr>
            <a:spLocks xmlns:a="http://schemas.openxmlformats.org/drawingml/2006/main" noGrp="1"/>
          </p:cNvSpPr>
          <p:nvPr/>
        </p:nvSpPr>
        <p:spPr>
          <a:xfrm xmlns:a="http://schemas.openxmlformats.org/drawingml/2006/main">
            <a:off x="533400" y="1428750"/>
            <a:ext cx="7239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8B2FE066-6788-4EDD-A1FE-B915D710AD07}"/>
              </a:ext>
            </a:extLst>
          </p:cNvPr>
          <p:cNvSpPr>
            <a:spLocks xmlns:a="http://schemas.openxmlformats.org/drawingml/2006/main" noGrp="1"/>
          </p:cNvSpPr>
          <p:nvPr/>
        </p:nvSpPr>
        <p:spPr>
          <a:xfrm xmlns:a="http://schemas.openxmlformats.org/drawingml/2006/main">
            <a:off x="533400" y="6572250"/>
            <a:ext cx="6477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BE314864-67DF-4D59-919C-A4DF515D27A2}"/>
              </a:ext>
            </a:extLst>
          </p:cNvPr>
          <p:cNvSpPr>
            <a:spLocks xmlns:a="http://schemas.openxmlformats.org/drawingml/2006/main" noGrp="1"/>
          </p:cNvSpPr>
          <p:nvPr/>
        </p:nvSpPr>
        <p:spPr>
          <a:xfrm xmlns:a="http://schemas.openxmlformats.org/drawingml/2006/main">
            <a:off x="1295400" y="65341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i="0">
                <a:solidFill>
                  <a:srgbClr val="61737B"/>
                </a:solidFill>
                <a:latin typeface="Arial"/>
                <a:ea typeface="Arial"/>
                <a:cs typeface="Arial"/>
              </a:defRPr>
            </a:pPr>
            <a:r>
              <a:rPr sz="825" b="0" i="0">
                <a:solidFill>
                  <a:srgbClr val="61737B"/>
                </a:solidFill>
                <a:latin typeface="Arial"/>
                <a:ea typeface="Arial"/>
                <a:cs typeface="Arial"/>
              </a:rPr>
              <a:t>ZION TECH HUB  /  REGISTRATION GROWTH DECISION</a:t>
            </a:r>
          </a:p>
        </p:txBody>
      </p:sp>
      <p:sp>
        <p:nvSpPr>
          <p:cNvPr id="6" name="">
            <a:extLst xmlns:a="http://schemas.openxmlformats.org/drawingml/2006/main">
              <a:ext uri="{FF2B5EF4-FFF2-40B4-BE49-F238E27FC236}">
                <a16:creationId xmlns:a16="http://schemas.microsoft.com/office/drawing/2014/main" id="{C53507BF-12EB-48AE-8051-6C23BDAAC072}"/>
              </a:ext>
            </a:extLst>
          </p:cNvPr>
          <p:cNvSpPr>
            <a:spLocks xmlns:a="http://schemas.openxmlformats.org/drawingml/2006/main" noGrp="1"/>
          </p:cNvSpPr>
          <p:nvPr/>
        </p:nvSpPr>
        <p:spPr>
          <a:xfrm xmlns:a="http://schemas.openxmlformats.org/drawingml/2006/main">
            <a:off x="11334750" y="65151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61737B"/>
                </a:solidFill>
                <a:latin typeface="Arial"/>
                <a:ea typeface="Arial"/>
                <a:cs typeface="Arial"/>
              </a:defRPr>
            </a:pPr>
            <a:r>
              <a:rPr sz="900" b="1" i="0">
                <a:solidFill>
                  <a:srgbClr val="61737B"/>
                </a:solidFill>
                <a:latin typeface="Arial"/>
                <a:ea typeface="Arial"/>
                <a:cs typeface="Arial"/>
              </a:rPr>
              <a:t>05</a:t>
            </a:r>
          </a:p>
        </p:txBody>
      </p:sp>
      <p:graphicFrame>
        <p:nvGraphicFramePr>
          <p:cNvPr id="20" name="Chart"/>
          <p:cNvGraphicFramePr/>
          <p:nvPr/>
        </p:nvGraphicFramePr>
        <p:xfrm>
          <a:off xmlns:a="http://schemas.openxmlformats.org/drawingml/2006/main" x="685800" y="1809750"/>
          <a:ext xmlns:a="http://schemas.openxmlformats.org/drawingml/2006/main" cx="7334250" cy="3714750"/>
        </p:xfrm>
        <a:graphic xmlns:a="http://schemas.openxmlformats.org/drawingml/2006/main">
          <a:graphicData uri="http://schemas.openxmlformats.org/drawingml/2006/chart">
            <c:chart xmlns:r="http://schemas.openxmlformats.org/officeDocument/2006/relationships" xmlns:c="http://schemas.openxmlformats.org/drawingml/2006/chart" r:id="R1a4df82907724c82"/>
          </a:graphicData>
        </a:graphic>
      </p:graphicFrame>
      <p:sp>
        <p:nvSpPr>
          <p:cNvPr id="8" name="">
            <a:extLst xmlns:a="http://schemas.openxmlformats.org/drawingml/2006/main">
              <a:ext uri="{FF2B5EF4-FFF2-40B4-BE49-F238E27FC236}">
                <a16:creationId xmlns:a16="http://schemas.microsoft.com/office/drawing/2014/main" id="{CEB84F59-F72B-4B78-B068-C1723CD7047A}"/>
              </a:ext>
            </a:extLst>
          </p:cNvPr>
          <p:cNvSpPr>
            <a:spLocks xmlns:a="http://schemas.openxmlformats.org/drawingml/2006/main" noGrp="1"/>
          </p:cNvSpPr>
          <p:nvPr/>
        </p:nvSpPr>
        <p:spPr>
          <a:xfrm xmlns:a="http://schemas.openxmlformats.org/drawingml/2006/main">
            <a:off x="8572500" y="217170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i="0">
                <a:solidFill>
                  <a:srgbClr val="20323D"/>
                </a:solidFill>
                <a:latin typeface="Arial"/>
                <a:ea typeface="Arial"/>
                <a:cs typeface="Arial"/>
              </a:defRPr>
            </a:pPr>
            <a:r>
              <a:rPr sz="1650" b="0" i="0">
                <a:solidFill>
                  <a:srgbClr val="20323D"/>
                </a:solidFill>
                <a:latin typeface="Arial"/>
                <a:ea typeface="Arial"/>
                <a:cs typeface="Arial"/>
              </a:rPr>
              <a:t>Cohort 10's two peak days generated</a:t>
            </a:r>
          </a:p>
        </p:txBody>
      </p:sp>
      <p:sp>
        <p:nvSpPr>
          <p:cNvPr id="9" name="">
            <a:extLst xmlns:a="http://schemas.openxmlformats.org/drawingml/2006/main">
              <a:ext uri="{FF2B5EF4-FFF2-40B4-BE49-F238E27FC236}">
                <a16:creationId xmlns:a16="http://schemas.microsoft.com/office/drawing/2014/main" id="{0715ABFD-C094-4067-9674-EAD047E5178D}"/>
              </a:ext>
            </a:extLst>
          </p:cNvPr>
          <p:cNvSpPr>
            <a:spLocks xmlns:a="http://schemas.openxmlformats.org/drawingml/2006/main" noGrp="1"/>
          </p:cNvSpPr>
          <p:nvPr/>
        </p:nvSpPr>
        <p:spPr>
          <a:xfrm xmlns:a="http://schemas.openxmlformats.org/drawingml/2006/main">
            <a:off x="8572500" y="2609850"/>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C4523C"/>
                </a:solidFill>
                <a:latin typeface="Arial"/>
                <a:ea typeface="Arial"/>
                <a:cs typeface="Arial"/>
              </a:defRPr>
            </a:pPr>
            <a:r>
              <a:rPr sz="3150" b="1" i="0">
                <a:solidFill>
                  <a:srgbClr val="C4523C"/>
                </a:solidFill>
                <a:latin typeface="Arial"/>
                <a:ea typeface="Arial"/>
                <a:cs typeface="Arial"/>
              </a:rPr>
              <a:t>126 of 171</a:t>
            </a:r>
          </a:p>
        </p:txBody>
      </p:sp>
      <p:sp>
        <p:nvSpPr>
          <p:cNvPr id="10" name="">
            <a:extLst xmlns:a="http://schemas.openxmlformats.org/drawingml/2006/main">
              <a:ext uri="{FF2B5EF4-FFF2-40B4-BE49-F238E27FC236}">
                <a16:creationId xmlns:a16="http://schemas.microsoft.com/office/drawing/2014/main" id="{D44845FB-E787-48EF-929C-08499C7F6C99}"/>
              </a:ext>
            </a:extLst>
          </p:cNvPr>
          <p:cNvSpPr>
            <a:spLocks xmlns:a="http://schemas.openxmlformats.org/drawingml/2006/main" noGrp="1"/>
          </p:cNvSpPr>
          <p:nvPr/>
        </p:nvSpPr>
        <p:spPr>
          <a:xfrm xmlns:a="http://schemas.openxmlformats.org/drawingml/2006/main">
            <a:off x="8572500" y="31432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i="0">
                <a:solidFill>
                  <a:srgbClr val="12343B"/>
                </a:solidFill>
                <a:latin typeface="Arial"/>
                <a:ea typeface="Arial"/>
                <a:cs typeface="Arial"/>
              </a:defRPr>
            </a:pPr>
            <a:r>
              <a:rPr sz="1650" b="0" i="0">
                <a:solidFill>
                  <a:srgbClr val="12343B"/>
                </a:solidFill>
                <a:latin typeface="Arial"/>
                <a:ea typeface="Arial"/>
                <a:cs typeface="Arial"/>
              </a:rPr>
              <a:t>registrations</a:t>
            </a:r>
          </a:p>
        </p:txBody>
      </p:sp>
      <p:sp>
        <p:nvSpPr>
          <p:cNvPr id="11" name="">
            <a:extLst xmlns:a="http://schemas.openxmlformats.org/drawingml/2006/main">
              <a:ext uri="{FF2B5EF4-FFF2-40B4-BE49-F238E27FC236}">
                <a16:creationId xmlns:a16="http://schemas.microsoft.com/office/drawing/2014/main" id="{2A38D388-E0FF-4EF0-8BB4-60C21D868F38}"/>
              </a:ext>
            </a:extLst>
          </p:cNvPr>
          <p:cNvSpPr>
            <a:spLocks xmlns:a="http://schemas.openxmlformats.org/drawingml/2006/main" noGrp="1"/>
          </p:cNvSpPr>
          <p:nvPr/>
        </p:nvSpPr>
        <p:spPr>
          <a:xfrm xmlns:a="http://schemas.openxmlformats.org/drawingml/2006/main">
            <a:off x="8572500" y="3714750"/>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20323D"/>
                </a:solidFill>
                <a:latin typeface="Arial"/>
                <a:ea typeface="Arial"/>
                <a:cs typeface="Arial"/>
              </a:defRPr>
            </a:pPr>
            <a:r>
              <a:rPr sz="1500" b="0" i="0">
                <a:solidFill>
                  <a:srgbClr val="20323D"/>
                </a:solidFill>
                <a:latin typeface="Arial"/>
                <a:ea typeface="Arial"/>
                <a:cs typeface="Arial"/>
              </a:rPr>
              <a:t>73.7% of the cohort arrived on 14–15 May. That makes campaign cadence and reminder timing more important than a slow, always-on launch.</a:t>
            </a:r>
          </a:p>
        </p:txBody>
      </p:sp>
      <p:sp>
        <p:nvSpPr>
          <p:cNvPr id="12" name="">
            <a:extLst xmlns:a="http://schemas.openxmlformats.org/drawingml/2006/main">
              <a:ext uri="{FF2B5EF4-FFF2-40B4-BE49-F238E27FC236}">
                <a16:creationId xmlns:a16="http://schemas.microsoft.com/office/drawing/2014/main" id="{482C1A4C-80CD-46B6-AC07-226A2A35C46B}"/>
              </a:ext>
            </a:extLst>
          </p:cNvPr>
          <p:cNvSpPr>
            <a:spLocks xmlns:a="http://schemas.openxmlformats.org/drawingml/2006/main" noGrp="1"/>
          </p:cNvSpPr>
          <p:nvPr/>
        </p:nvSpPr>
        <p:spPr>
          <a:xfrm xmlns:a="http://schemas.openxmlformats.org/drawingml/2006/main">
            <a:off x="857250" y="5772150"/>
            <a:ext cx="2857500" cy="323850"/>
          </a:xfrm>
          <a:prstGeom xmlns:a="http://schemas.openxmlformats.org/drawingml/2006/main" prst="rect">
            <a:avLst/>
          </a:prstGeom>
          <a:solidFill xmlns:a="http://schemas.openxmlformats.org/drawingml/2006/main">
            <a:srgbClr val="DDEAE6"/>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i="0">
                <a:solidFill>
                  <a:srgbClr val="12343B"/>
                </a:solidFill>
                <a:latin typeface="Arial"/>
                <a:ea typeface="Arial"/>
                <a:cs typeface="Arial"/>
              </a:defRPr>
            </a:pPr>
            <a:r>
              <a:rPr sz="1125" b="1" i="0">
                <a:solidFill>
                  <a:srgbClr val="12343B"/>
                </a:solidFill>
                <a:latin typeface="Arial"/>
                <a:ea typeface="Arial"/>
                <a:cs typeface="Arial"/>
              </a:rPr>
              <a:t>C9 peak: 22 Jan 2026</a:t>
            </a:r>
          </a:p>
        </p:txBody>
      </p:sp>
      <p:sp>
        <p:nvSpPr>
          <p:cNvPr id="13" name="">
            <a:extLst xmlns:a="http://schemas.openxmlformats.org/drawingml/2006/main">
              <a:ext uri="{FF2B5EF4-FFF2-40B4-BE49-F238E27FC236}">
                <a16:creationId xmlns:a16="http://schemas.microsoft.com/office/drawing/2014/main" id="{C72BD6AB-4814-47A6-9098-5AE97C648EF6}"/>
              </a:ext>
            </a:extLst>
          </p:cNvPr>
          <p:cNvSpPr>
            <a:spLocks xmlns:a="http://schemas.openxmlformats.org/drawingml/2006/main" noGrp="1"/>
          </p:cNvSpPr>
          <p:nvPr/>
        </p:nvSpPr>
        <p:spPr>
          <a:xfrm xmlns:a="http://schemas.openxmlformats.org/drawingml/2006/main">
            <a:off x="3905250" y="5772150"/>
            <a:ext cx="3048000" cy="323850"/>
          </a:xfrm>
          <a:prstGeom xmlns:a="http://schemas.openxmlformats.org/drawingml/2006/main" prst="rect">
            <a:avLst/>
          </a:prstGeom>
          <a:solidFill xmlns:a="http://schemas.openxmlformats.org/drawingml/2006/main">
            <a:srgbClr val="F5DED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i="0">
                <a:solidFill>
                  <a:srgbClr val="C4523C"/>
                </a:solidFill>
                <a:latin typeface="Arial"/>
                <a:ea typeface="Arial"/>
                <a:cs typeface="Arial"/>
              </a:defRPr>
            </a:pPr>
            <a:r>
              <a:rPr sz="1125" b="1" i="0">
                <a:solidFill>
                  <a:srgbClr val="C4523C"/>
                </a:solidFill>
                <a:latin typeface="Arial"/>
                <a:ea typeface="Arial"/>
                <a:cs typeface="Arial"/>
              </a:rPr>
              <a:t>C10 peak: 14 May 2026</a:t>
            </a:r>
          </a:p>
        </p:txBody>
      </p:sp>
    </p:spTree>
    <p:extLst>
      <p:ext uri="{BB962C8B-B14F-4D97-AF65-F5344CB8AC3E}">
        <p14:creationId xmlns:p14="http://schemas.microsoft.com/office/powerpoint/2010/main" val="1762457684"/>
      </p:ext>
    </p:extLst>
  </p:cSld>
</p:sld>
</file>

<file path=ppt/slides/slide6.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91867C0-E7FD-4E6B-A32B-A3B8C2806A2E}"/>
              </a:ext>
            </a:extLst>
          </p:cNvPr>
          <p:cNvSpPr>
            <a:spLocks xmlns:a="http://schemas.openxmlformats.org/drawingml/2006/main" noGrp="1"/>
          </p:cNvSpPr>
          <p:nvPr/>
        </p:nvSpPr>
        <p:spPr>
          <a:xfrm xmlns:a="http://schemas.openxmlformats.org/drawingml/2006/main">
            <a:off x="533400" y="3619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4523C"/>
                </a:solidFill>
                <a:latin typeface="Arial"/>
                <a:ea typeface="Arial"/>
                <a:cs typeface="Arial"/>
              </a:defRPr>
            </a:pPr>
            <a:r>
              <a:rPr sz="975" b="1" i="0">
                <a:solidFill>
                  <a:srgbClr val="C4523C"/>
                </a:solidFill>
                <a:latin typeface="Arial"/>
                <a:ea typeface="Arial"/>
                <a:cs typeface="Arial"/>
              </a:rPr>
              <a:t>PRODUCT DEMAND</a:t>
            </a:r>
          </a:p>
        </p:txBody>
      </p:sp>
      <p:sp>
        <p:nvSpPr>
          <p:cNvPr id="2" name="">
            <a:extLst xmlns:a="http://schemas.openxmlformats.org/drawingml/2006/main">
              <a:ext uri="{FF2B5EF4-FFF2-40B4-BE49-F238E27FC236}">
                <a16:creationId xmlns:a16="http://schemas.microsoft.com/office/drawing/2014/main" id="{232DAD2A-960E-4E37-9191-2C1F2E04FEAB}"/>
              </a:ext>
            </a:extLst>
          </p:cNvPr>
          <p:cNvSpPr>
            <a:spLocks xmlns:a="http://schemas.openxmlformats.org/drawingml/2006/main" noGrp="1"/>
          </p:cNvSpPr>
          <p:nvPr/>
        </p:nvSpPr>
        <p:spPr>
          <a:xfrm xmlns:a="http://schemas.openxmlformats.org/drawingml/2006/main">
            <a:off x="533400" y="6286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2343B"/>
                </a:solidFill>
                <a:latin typeface="Arial"/>
                <a:ea typeface="Arial"/>
                <a:cs typeface="Arial"/>
              </a:defRPr>
            </a:pPr>
            <a:r>
              <a:rPr sz="2700" b="1" i="0">
                <a:solidFill>
                  <a:srgbClr val="12343B"/>
                </a:solidFill>
                <a:latin typeface="Arial"/>
                <a:ea typeface="Arial"/>
                <a:cs typeface="Arial"/>
              </a:rPr>
              <a:t>Data Science is a stable anchor while Cohort 10 broadens the mix</a:t>
            </a:r>
          </a:p>
        </p:txBody>
      </p:sp>
      <p:sp>
        <p:nvSpPr>
          <p:cNvPr id="3" name="">
            <a:extLst xmlns:a="http://schemas.openxmlformats.org/drawingml/2006/main">
              <a:ext uri="{FF2B5EF4-FFF2-40B4-BE49-F238E27FC236}">
                <a16:creationId xmlns:a16="http://schemas.microsoft.com/office/drawing/2014/main" id="{6FEFC13A-8F5F-45D4-9F04-CB7F22DDF384}"/>
              </a:ext>
            </a:extLst>
          </p:cNvPr>
          <p:cNvSpPr>
            <a:spLocks xmlns:a="http://schemas.openxmlformats.org/drawingml/2006/main" noGrp="1"/>
          </p:cNvSpPr>
          <p:nvPr/>
        </p:nvSpPr>
        <p:spPr>
          <a:xfrm xmlns:a="http://schemas.openxmlformats.org/drawingml/2006/main">
            <a:off x="533400" y="1428750"/>
            <a:ext cx="7239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D25BFB62-3674-4CF5-8BB6-B7CFF6A4148D}"/>
              </a:ext>
            </a:extLst>
          </p:cNvPr>
          <p:cNvSpPr>
            <a:spLocks xmlns:a="http://schemas.openxmlformats.org/drawingml/2006/main" noGrp="1"/>
          </p:cNvSpPr>
          <p:nvPr/>
        </p:nvSpPr>
        <p:spPr>
          <a:xfrm xmlns:a="http://schemas.openxmlformats.org/drawingml/2006/main">
            <a:off x="533400" y="6572250"/>
            <a:ext cx="6477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1B94D9B1-8793-4296-91E3-CEB6D6EF6218}"/>
              </a:ext>
            </a:extLst>
          </p:cNvPr>
          <p:cNvSpPr>
            <a:spLocks xmlns:a="http://schemas.openxmlformats.org/drawingml/2006/main" noGrp="1"/>
          </p:cNvSpPr>
          <p:nvPr/>
        </p:nvSpPr>
        <p:spPr>
          <a:xfrm xmlns:a="http://schemas.openxmlformats.org/drawingml/2006/main">
            <a:off x="1295400" y="65341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i="0">
                <a:solidFill>
                  <a:srgbClr val="61737B"/>
                </a:solidFill>
                <a:latin typeface="Arial"/>
                <a:ea typeface="Arial"/>
                <a:cs typeface="Arial"/>
              </a:defRPr>
            </a:pPr>
            <a:r>
              <a:rPr sz="825" b="0" i="0">
                <a:solidFill>
                  <a:srgbClr val="61737B"/>
                </a:solidFill>
                <a:latin typeface="Arial"/>
                <a:ea typeface="Arial"/>
                <a:cs typeface="Arial"/>
              </a:rPr>
              <a:t>ZION TECH HUB  /  REGISTRATION GROWTH DECISION</a:t>
            </a:r>
          </a:p>
        </p:txBody>
      </p:sp>
      <p:sp>
        <p:nvSpPr>
          <p:cNvPr id="6" name="">
            <a:extLst xmlns:a="http://schemas.openxmlformats.org/drawingml/2006/main">
              <a:ext uri="{FF2B5EF4-FFF2-40B4-BE49-F238E27FC236}">
                <a16:creationId xmlns:a16="http://schemas.microsoft.com/office/drawing/2014/main" id="{F0EEECB5-2130-44FC-BB5E-44960D322F40}"/>
              </a:ext>
            </a:extLst>
          </p:cNvPr>
          <p:cNvSpPr>
            <a:spLocks xmlns:a="http://schemas.openxmlformats.org/drawingml/2006/main" noGrp="1"/>
          </p:cNvSpPr>
          <p:nvPr/>
        </p:nvSpPr>
        <p:spPr>
          <a:xfrm xmlns:a="http://schemas.openxmlformats.org/drawingml/2006/main">
            <a:off x="11334750" y="65151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61737B"/>
                </a:solidFill>
                <a:latin typeface="Arial"/>
                <a:ea typeface="Arial"/>
                <a:cs typeface="Arial"/>
              </a:defRPr>
            </a:pPr>
            <a:r>
              <a:rPr sz="900" b="1" i="0">
                <a:solidFill>
                  <a:srgbClr val="61737B"/>
                </a:solidFill>
                <a:latin typeface="Arial"/>
                <a:ea typeface="Arial"/>
                <a:cs typeface="Arial"/>
              </a:rPr>
              <a:t>06</a:t>
            </a:r>
          </a:p>
        </p:txBody>
      </p:sp>
      <p:graphicFrame>
        <p:nvGraphicFramePr>
          <p:cNvPr id="15" name="Chart"/>
          <p:cNvGraphicFramePr/>
          <p:nvPr/>
        </p:nvGraphicFramePr>
        <p:xfrm>
          <a:off xmlns:a="http://schemas.openxmlformats.org/drawingml/2006/main" x="685800" y="1752600"/>
          <a:ext xmlns:a="http://schemas.openxmlformats.org/drawingml/2006/main" cx="10858500" cy="4000500"/>
        </p:xfrm>
        <a:graphic xmlns:a="http://schemas.openxmlformats.org/drawingml/2006/main">
          <a:graphicData uri="http://schemas.openxmlformats.org/drawingml/2006/chart">
            <c:chart xmlns:r="http://schemas.openxmlformats.org/officeDocument/2006/relationships" xmlns:c="http://schemas.openxmlformats.org/drawingml/2006/chart" r:id="R984ab50f09ee4d4e"/>
          </a:graphicData>
        </a:graphic>
      </p:graphicFrame>
      <p:sp>
        <p:nvSpPr>
          <p:cNvPr id="8" name="">
            <a:extLst xmlns:a="http://schemas.openxmlformats.org/drawingml/2006/main">
              <a:ext uri="{FF2B5EF4-FFF2-40B4-BE49-F238E27FC236}">
                <a16:creationId xmlns:a16="http://schemas.microsoft.com/office/drawing/2014/main" id="{BAEF684D-DA2E-473E-A571-32D2238BF648}"/>
              </a:ext>
            </a:extLst>
          </p:cNvPr>
          <p:cNvSpPr>
            <a:spLocks xmlns:a="http://schemas.openxmlformats.org/drawingml/2006/main" noGrp="1"/>
          </p:cNvSpPr>
          <p:nvPr/>
        </p:nvSpPr>
        <p:spPr>
          <a:xfrm xmlns:a="http://schemas.openxmlformats.org/drawingml/2006/main">
            <a:off x="800100" y="59436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12343B"/>
                </a:solidFill>
                <a:latin typeface="Arial"/>
                <a:ea typeface="Arial"/>
                <a:cs typeface="Arial"/>
              </a:defRPr>
            </a:pPr>
            <a:r>
              <a:rPr sz="1650" b="1" i="0">
                <a:solidFill>
                  <a:srgbClr val="12343B"/>
                </a:solidFill>
                <a:latin typeface="Arial"/>
                <a:ea typeface="Arial"/>
                <a:cs typeface="Arial"/>
              </a:rPr>
              <a:t>Data Science / AI / ML stayed at 45.6% of both cohorts after the source label changed from Data Science and AI to Data science and ML.</a:t>
            </a:r>
          </a:p>
        </p:txBody>
      </p:sp>
    </p:spTree>
    <p:extLst>
      <p:ext uri="{BB962C8B-B14F-4D97-AF65-F5344CB8AC3E}">
        <p14:creationId xmlns:p14="http://schemas.microsoft.com/office/powerpoint/2010/main" val="1327500221"/>
      </p:ext>
    </p:extLst>
  </p:cSld>
</p:sld>
</file>

<file path=ppt/slides/slide7.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E8B4514-7BC6-4148-95F0-83C40266F5FD}"/>
              </a:ext>
            </a:extLst>
          </p:cNvPr>
          <p:cNvSpPr>
            <a:spLocks xmlns:a="http://schemas.openxmlformats.org/drawingml/2006/main" noGrp="1"/>
          </p:cNvSpPr>
          <p:nvPr/>
        </p:nvSpPr>
        <p:spPr>
          <a:xfrm xmlns:a="http://schemas.openxmlformats.org/drawingml/2006/main">
            <a:off x="533400" y="3619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4523C"/>
                </a:solidFill>
                <a:latin typeface="Arial"/>
                <a:ea typeface="Arial"/>
                <a:cs typeface="Arial"/>
              </a:defRPr>
            </a:pPr>
            <a:r>
              <a:rPr sz="975" b="1" i="0">
                <a:solidFill>
                  <a:srgbClr val="C4523C"/>
                </a:solidFill>
                <a:latin typeface="Arial"/>
                <a:ea typeface="Arial"/>
                <a:cs typeface="Arial"/>
              </a:rPr>
              <a:t>AUDIENCE</a:t>
            </a:r>
          </a:p>
        </p:txBody>
      </p:sp>
      <p:sp>
        <p:nvSpPr>
          <p:cNvPr id="2" name="">
            <a:extLst xmlns:a="http://schemas.openxmlformats.org/drawingml/2006/main">
              <a:ext uri="{FF2B5EF4-FFF2-40B4-BE49-F238E27FC236}">
                <a16:creationId xmlns:a16="http://schemas.microsoft.com/office/drawing/2014/main" id="{42886FA2-F830-42C9-81C9-7B8681740488}"/>
              </a:ext>
            </a:extLst>
          </p:cNvPr>
          <p:cNvSpPr>
            <a:spLocks xmlns:a="http://schemas.openxmlformats.org/drawingml/2006/main" noGrp="1"/>
          </p:cNvSpPr>
          <p:nvPr/>
        </p:nvSpPr>
        <p:spPr>
          <a:xfrm xmlns:a="http://schemas.openxmlformats.org/drawingml/2006/main">
            <a:off x="533400" y="6286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2343B"/>
                </a:solidFill>
                <a:latin typeface="Arial"/>
                <a:ea typeface="Arial"/>
                <a:cs typeface="Arial"/>
              </a:defRPr>
            </a:pPr>
            <a:r>
              <a:rPr sz="2700" b="1" i="0">
                <a:solidFill>
                  <a:srgbClr val="12343B"/>
                </a:solidFill>
                <a:latin typeface="Arial"/>
                <a:ea typeface="Arial"/>
                <a:cs typeface="Arial"/>
              </a:rPr>
              <a:t>Cohort 10 is Nigeria-led, student-heavy and professionally fragmented</a:t>
            </a:r>
          </a:p>
        </p:txBody>
      </p:sp>
      <p:sp>
        <p:nvSpPr>
          <p:cNvPr id="3" name="">
            <a:extLst xmlns:a="http://schemas.openxmlformats.org/drawingml/2006/main">
              <a:ext uri="{FF2B5EF4-FFF2-40B4-BE49-F238E27FC236}">
                <a16:creationId xmlns:a16="http://schemas.microsoft.com/office/drawing/2014/main" id="{0DEB7675-E9BD-4F4D-A9D3-E8832393DBC0}"/>
              </a:ext>
            </a:extLst>
          </p:cNvPr>
          <p:cNvSpPr>
            <a:spLocks xmlns:a="http://schemas.openxmlformats.org/drawingml/2006/main" noGrp="1"/>
          </p:cNvSpPr>
          <p:nvPr/>
        </p:nvSpPr>
        <p:spPr>
          <a:xfrm xmlns:a="http://schemas.openxmlformats.org/drawingml/2006/main">
            <a:off x="533400" y="1428750"/>
            <a:ext cx="7239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0C32E453-058D-4547-8520-D4FB90CFD5F1}"/>
              </a:ext>
            </a:extLst>
          </p:cNvPr>
          <p:cNvSpPr>
            <a:spLocks xmlns:a="http://schemas.openxmlformats.org/drawingml/2006/main" noGrp="1"/>
          </p:cNvSpPr>
          <p:nvPr/>
        </p:nvSpPr>
        <p:spPr>
          <a:xfrm xmlns:a="http://schemas.openxmlformats.org/drawingml/2006/main">
            <a:off x="533400" y="6572250"/>
            <a:ext cx="6477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00AE2960-40DE-475E-8D18-E0EE46C0EEE0}"/>
              </a:ext>
            </a:extLst>
          </p:cNvPr>
          <p:cNvSpPr>
            <a:spLocks xmlns:a="http://schemas.openxmlformats.org/drawingml/2006/main" noGrp="1"/>
          </p:cNvSpPr>
          <p:nvPr/>
        </p:nvSpPr>
        <p:spPr>
          <a:xfrm xmlns:a="http://schemas.openxmlformats.org/drawingml/2006/main">
            <a:off x="1295400" y="65341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i="0">
                <a:solidFill>
                  <a:srgbClr val="61737B"/>
                </a:solidFill>
                <a:latin typeface="Arial"/>
                <a:ea typeface="Arial"/>
                <a:cs typeface="Arial"/>
              </a:defRPr>
            </a:pPr>
            <a:r>
              <a:rPr sz="825" b="0" i="0">
                <a:solidFill>
                  <a:srgbClr val="61737B"/>
                </a:solidFill>
                <a:latin typeface="Arial"/>
                <a:ea typeface="Arial"/>
                <a:cs typeface="Arial"/>
              </a:rPr>
              <a:t>ZION TECH HUB  /  REGISTRATION GROWTH DECISION</a:t>
            </a:r>
          </a:p>
        </p:txBody>
      </p:sp>
      <p:sp>
        <p:nvSpPr>
          <p:cNvPr id="6" name="">
            <a:extLst xmlns:a="http://schemas.openxmlformats.org/drawingml/2006/main">
              <a:ext uri="{FF2B5EF4-FFF2-40B4-BE49-F238E27FC236}">
                <a16:creationId xmlns:a16="http://schemas.microsoft.com/office/drawing/2014/main" id="{7A5E897B-32DD-4749-A3F7-F75442CDC224}"/>
              </a:ext>
            </a:extLst>
          </p:cNvPr>
          <p:cNvSpPr>
            <a:spLocks xmlns:a="http://schemas.openxmlformats.org/drawingml/2006/main" noGrp="1"/>
          </p:cNvSpPr>
          <p:nvPr/>
        </p:nvSpPr>
        <p:spPr>
          <a:xfrm xmlns:a="http://schemas.openxmlformats.org/drawingml/2006/main">
            <a:off x="11334750" y="65151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61737B"/>
                </a:solidFill>
                <a:latin typeface="Arial"/>
                <a:ea typeface="Arial"/>
                <a:cs typeface="Arial"/>
              </a:defRPr>
            </a:pPr>
            <a:r>
              <a:rPr sz="900" b="1" i="0">
                <a:solidFill>
                  <a:srgbClr val="61737B"/>
                </a:solidFill>
                <a:latin typeface="Arial"/>
                <a:ea typeface="Arial"/>
                <a:cs typeface="Arial"/>
              </a:rPr>
              <a:t>07</a:t>
            </a:r>
          </a:p>
        </p:txBody>
      </p:sp>
      <p:graphicFrame>
        <p:nvGraphicFramePr>
          <p:cNvPr id="16" name="Chart"/>
          <p:cNvGraphicFramePr/>
          <p:nvPr/>
        </p:nvGraphicFramePr>
        <p:xfrm>
          <a:off xmlns:a="http://schemas.openxmlformats.org/drawingml/2006/main" x="571500" y="1790700"/>
          <a:ext xmlns:a="http://schemas.openxmlformats.org/drawingml/2006/main" cx="6381750" cy="3905250"/>
        </p:xfrm>
        <a:graphic xmlns:a="http://schemas.openxmlformats.org/drawingml/2006/main">
          <a:graphicData uri="http://schemas.openxmlformats.org/drawingml/2006/chart">
            <c:chart xmlns:r="http://schemas.openxmlformats.org/officeDocument/2006/relationships" xmlns:c="http://schemas.openxmlformats.org/drawingml/2006/chart" r:id="R8d3a2bdea69c4803"/>
          </a:graphicData>
        </a:graphic>
      </p:graphicFrame>
      <p:graphicFrame>
        <p:nvGraphicFramePr>
          <p:cNvPr id="17" name="Chart"/>
          <p:cNvGraphicFramePr/>
          <p:nvPr/>
        </p:nvGraphicFramePr>
        <p:xfrm>
          <a:off xmlns:a="http://schemas.openxmlformats.org/drawingml/2006/main" x="7334250" y="1790700"/>
          <a:ext xmlns:a="http://schemas.openxmlformats.org/drawingml/2006/main" cx="4191000" cy="3905250"/>
        </p:xfrm>
        <a:graphic xmlns:a="http://schemas.openxmlformats.org/drawingml/2006/main">
          <a:graphicData uri="http://schemas.openxmlformats.org/drawingml/2006/chart">
            <c:chart xmlns:r="http://schemas.openxmlformats.org/officeDocument/2006/relationships" xmlns:c="http://schemas.openxmlformats.org/drawingml/2006/chart" r:id="R2586b9f311444edb"/>
          </a:graphicData>
        </a:graphic>
      </p:graphicFrame>
      <p:sp>
        <p:nvSpPr>
          <p:cNvPr id="9" name="">
            <a:extLst xmlns:a="http://schemas.openxmlformats.org/drawingml/2006/main">
              <a:ext uri="{FF2B5EF4-FFF2-40B4-BE49-F238E27FC236}">
                <a16:creationId xmlns:a16="http://schemas.microsoft.com/office/drawing/2014/main" id="{719C6693-9BA2-44EE-910B-8E9D9D2BD3A0}"/>
              </a:ext>
            </a:extLst>
          </p:cNvPr>
          <p:cNvSpPr>
            <a:spLocks xmlns:a="http://schemas.openxmlformats.org/drawingml/2006/main" noGrp="1"/>
          </p:cNvSpPr>
          <p:nvPr/>
        </p:nvSpPr>
        <p:spPr>
          <a:xfrm xmlns:a="http://schemas.openxmlformats.org/drawingml/2006/main">
            <a:off x="762000" y="5905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12343B"/>
                </a:solidFill>
                <a:latin typeface="Arial"/>
                <a:ea typeface="Arial"/>
                <a:cs typeface="Arial"/>
              </a:defRPr>
            </a:pPr>
            <a:r>
              <a:rPr sz="1650" b="1" i="0">
                <a:solidFill>
                  <a:srgbClr val="12343B"/>
                </a:solidFill>
                <a:latin typeface="Arial"/>
                <a:ea typeface="Arial"/>
                <a:cs typeface="Arial"/>
              </a:rPr>
              <a:t>Students are the largest single known occupation group at 19.9%. Nigeria contributes 62.0% of C10 registrations, followed by Kenya at 11.1%.</a:t>
            </a:r>
          </a:p>
        </p:txBody>
      </p:sp>
    </p:spTree>
    <p:extLst>
      <p:ext uri="{BB962C8B-B14F-4D97-AF65-F5344CB8AC3E}">
        <p14:creationId xmlns:p14="http://schemas.microsoft.com/office/powerpoint/2010/main" val="41519944"/>
      </p:ext>
    </p:extLst>
  </p:cSld>
</p:sld>
</file>

<file path=ppt/slides/slide8.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8F784C7-3D89-40EC-B331-127622528B90}"/>
              </a:ext>
            </a:extLst>
          </p:cNvPr>
          <p:cNvSpPr>
            <a:spLocks xmlns:a="http://schemas.openxmlformats.org/drawingml/2006/main" noGrp="1"/>
          </p:cNvSpPr>
          <p:nvPr/>
        </p:nvSpPr>
        <p:spPr>
          <a:xfrm xmlns:a="http://schemas.openxmlformats.org/drawingml/2006/main">
            <a:off x="533400" y="3619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4523C"/>
                </a:solidFill>
                <a:latin typeface="Arial"/>
                <a:ea typeface="Arial"/>
                <a:cs typeface="Arial"/>
              </a:defRPr>
            </a:pPr>
            <a:r>
              <a:rPr sz="975" b="1" i="0">
                <a:solidFill>
                  <a:srgbClr val="C4523C"/>
                </a:solidFill>
                <a:latin typeface="Arial"/>
                <a:ea typeface="Arial"/>
                <a:cs typeface="Arial"/>
              </a:rPr>
              <a:t>AUDIENCE FIT</a:t>
            </a:r>
          </a:p>
        </p:txBody>
      </p:sp>
      <p:sp>
        <p:nvSpPr>
          <p:cNvPr id="2" name="">
            <a:extLst xmlns:a="http://schemas.openxmlformats.org/drawingml/2006/main">
              <a:ext uri="{FF2B5EF4-FFF2-40B4-BE49-F238E27FC236}">
                <a16:creationId xmlns:a16="http://schemas.microsoft.com/office/drawing/2014/main" id="{8069BF90-6193-4608-8EF0-5CEF3ED36172}"/>
              </a:ext>
            </a:extLst>
          </p:cNvPr>
          <p:cNvSpPr>
            <a:spLocks xmlns:a="http://schemas.openxmlformats.org/drawingml/2006/main" noGrp="1"/>
          </p:cNvSpPr>
          <p:nvPr/>
        </p:nvSpPr>
        <p:spPr>
          <a:xfrm xmlns:a="http://schemas.openxmlformats.org/drawingml/2006/main">
            <a:off x="533400" y="6286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2343B"/>
                </a:solidFill>
                <a:latin typeface="Arial"/>
                <a:ea typeface="Arial"/>
                <a:cs typeface="Arial"/>
              </a:defRPr>
            </a:pPr>
            <a:r>
              <a:rPr sz="2700" b="1" i="0">
                <a:solidFill>
                  <a:srgbClr val="12343B"/>
                </a:solidFill>
                <a:latin typeface="Arial"/>
                <a:ea typeface="Arial"/>
                <a:cs typeface="Arial"/>
              </a:rPr>
              <a:t>Course interest reaches beyond people who name that occupation</a:t>
            </a:r>
          </a:p>
        </p:txBody>
      </p:sp>
      <p:sp>
        <p:nvSpPr>
          <p:cNvPr id="3" name="">
            <a:extLst xmlns:a="http://schemas.openxmlformats.org/drawingml/2006/main">
              <a:ext uri="{FF2B5EF4-FFF2-40B4-BE49-F238E27FC236}">
                <a16:creationId xmlns:a16="http://schemas.microsoft.com/office/drawing/2014/main" id="{B83309BB-718D-4466-B17C-4458D2E0FA1A}"/>
              </a:ext>
            </a:extLst>
          </p:cNvPr>
          <p:cNvSpPr>
            <a:spLocks xmlns:a="http://schemas.openxmlformats.org/drawingml/2006/main" noGrp="1"/>
          </p:cNvSpPr>
          <p:nvPr/>
        </p:nvSpPr>
        <p:spPr>
          <a:xfrm xmlns:a="http://schemas.openxmlformats.org/drawingml/2006/main">
            <a:off x="533400" y="1428750"/>
            <a:ext cx="7239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5B798804-0AC9-41A6-BEC2-FF2D58CD8A2F}"/>
              </a:ext>
            </a:extLst>
          </p:cNvPr>
          <p:cNvSpPr>
            <a:spLocks xmlns:a="http://schemas.openxmlformats.org/drawingml/2006/main" noGrp="1"/>
          </p:cNvSpPr>
          <p:nvPr/>
        </p:nvSpPr>
        <p:spPr>
          <a:xfrm xmlns:a="http://schemas.openxmlformats.org/drawingml/2006/main">
            <a:off x="533400" y="6572250"/>
            <a:ext cx="6477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B91BF9EB-4CA6-4282-93DC-D018B2636AD7}"/>
              </a:ext>
            </a:extLst>
          </p:cNvPr>
          <p:cNvSpPr>
            <a:spLocks xmlns:a="http://schemas.openxmlformats.org/drawingml/2006/main" noGrp="1"/>
          </p:cNvSpPr>
          <p:nvPr/>
        </p:nvSpPr>
        <p:spPr>
          <a:xfrm xmlns:a="http://schemas.openxmlformats.org/drawingml/2006/main">
            <a:off x="1295400" y="65341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i="0">
                <a:solidFill>
                  <a:srgbClr val="61737B"/>
                </a:solidFill>
                <a:latin typeface="Arial"/>
                <a:ea typeface="Arial"/>
                <a:cs typeface="Arial"/>
              </a:defRPr>
            </a:pPr>
            <a:r>
              <a:rPr sz="825" b="0" i="0">
                <a:solidFill>
                  <a:srgbClr val="61737B"/>
                </a:solidFill>
                <a:latin typeface="Arial"/>
                <a:ea typeface="Arial"/>
                <a:cs typeface="Arial"/>
              </a:rPr>
              <a:t>ZION TECH HUB  /  REGISTRATION GROWTH DECISION</a:t>
            </a:r>
          </a:p>
        </p:txBody>
      </p:sp>
      <p:sp>
        <p:nvSpPr>
          <p:cNvPr id="6" name="">
            <a:extLst xmlns:a="http://schemas.openxmlformats.org/drawingml/2006/main">
              <a:ext uri="{FF2B5EF4-FFF2-40B4-BE49-F238E27FC236}">
                <a16:creationId xmlns:a16="http://schemas.microsoft.com/office/drawing/2014/main" id="{80C8E3F3-D902-49F9-8E61-34E9EA2C7E04}"/>
              </a:ext>
            </a:extLst>
          </p:cNvPr>
          <p:cNvSpPr>
            <a:spLocks xmlns:a="http://schemas.openxmlformats.org/drawingml/2006/main" noGrp="1"/>
          </p:cNvSpPr>
          <p:nvPr/>
        </p:nvSpPr>
        <p:spPr>
          <a:xfrm xmlns:a="http://schemas.openxmlformats.org/drawingml/2006/main">
            <a:off x="11334750" y="65151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61737B"/>
                </a:solidFill>
                <a:latin typeface="Arial"/>
                <a:ea typeface="Arial"/>
                <a:cs typeface="Arial"/>
              </a:defRPr>
            </a:pPr>
            <a:r>
              <a:rPr sz="900" b="1" i="0">
                <a:solidFill>
                  <a:srgbClr val="61737B"/>
                </a:solidFill>
                <a:latin typeface="Arial"/>
                <a:ea typeface="Arial"/>
                <a:cs typeface="Arial"/>
              </a:rPr>
              <a:t>08</a:t>
            </a:r>
          </a:p>
        </p:txBody>
      </p:sp>
      <p:graphicFrame>
        <p:nvGraphicFramePr>
          <p:cNvPr id="16" name="Chart"/>
          <p:cNvGraphicFramePr/>
          <p:nvPr/>
        </p:nvGraphicFramePr>
        <p:xfrm>
          <a:off xmlns:a="http://schemas.openxmlformats.org/drawingml/2006/main" x="666750" y="1752600"/>
          <a:ext xmlns:a="http://schemas.openxmlformats.org/drawingml/2006/main" cx="10858500" cy="3905250"/>
        </p:xfrm>
        <a:graphic xmlns:a="http://schemas.openxmlformats.org/drawingml/2006/main">
          <a:graphicData uri="http://schemas.openxmlformats.org/drawingml/2006/chart">
            <c:chart xmlns:r="http://schemas.openxmlformats.org/officeDocument/2006/relationships" xmlns:c="http://schemas.openxmlformats.org/drawingml/2006/chart" r:id="R07cc46d9c7f04d6a"/>
          </a:graphicData>
        </a:graphic>
      </p:graphicFrame>
      <p:sp>
        <p:nvSpPr>
          <p:cNvPr id="8" name="">
            <a:extLst xmlns:a="http://schemas.openxmlformats.org/drawingml/2006/main">
              <a:ext uri="{FF2B5EF4-FFF2-40B4-BE49-F238E27FC236}">
                <a16:creationId xmlns:a16="http://schemas.microsoft.com/office/drawing/2014/main" id="{8C677EC8-17DC-46E6-A193-D0012BAE382B}"/>
              </a:ext>
            </a:extLst>
          </p:cNvPr>
          <p:cNvSpPr>
            <a:spLocks xmlns:a="http://schemas.openxmlformats.org/drawingml/2006/main" noGrp="1"/>
          </p:cNvSpPr>
          <p:nvPr/>
        </p:nvSpPr>
        <p:spPr>
          <a:xfrm xmlns:a="http://schemas.openxmlformats.org/drawingml/2006/main">
            <a:off x="800100" y="5829300"/>
            <a:ext cx="1019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i="0">
                <a:solidFill>
                  <a:srgbClr val="C4523C"/>
                </a:solidFill>
                <a:latin typeface="Arial"/>
                <a:ea typeface="Arial"/>
                <a:cs typeface="Arial"/>
              </a:defRPr>
            </a:pPr>
            <a:r>
              <a:rPr sz="1425" b="1" i="0">
                <a:solidFill>
                  <a:srgbClr val="C4523C"/>
                </a:solidFill>
                <a:latin typeface="Arial"/>
                <a:ea typeface="Arial"/>
                <a:cs typeface="Arial"/>
              </a:rPr>
              <a:t>Sales &amp; Marketing: 19.9% course demand vs 1.8% declared occupation</a:t>
            </a:r>
          </a:p>
        </p:txBody>
      </p:sp>
      <p:sp>
        <p:nvSpPr>
          <p:cNvPr id="9" name="">
            <a:extLst xmlns:a="http://schemas.openxmlformats.org/drawingml/2006/main">
              <a:ext uri="{FF2B5EF4-FFF2-40B4-BE49-F238E27FC236}">
                <a16:creationId xmlns:a16="http://schemas.microsoft.com/office/drawing/2014/main" id="{8CB1A024-6BBE-4E64-99A2-AF7C8C8D46A9}"/>
              </a:ext>
            </a:extLst>
          </p:cNvPr>
          <p:cNvSpPr>
            <a:spLocks xmlns:a="http://schemas.openxmlformats.org/drawingml/2006/main" noGrp="1"/>
          </p:cNvSpPr>
          <p:nvPr/>
        </p:nvSpPr>
        <p:spPr>
          <a:xfrm xmlns:a="http://schemas.openxmlformats.org/drawingml/2006/main">
            <a:off x="800100" y="6153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12343B"/>
                </a:solidFill>
                <a:latin typeface="Arial"/>
                <a:ea typeface="Arial"/>
                <a:cs typeface="Arial"/>
              </a:defRPr>
            </a:pPr>
            <a:r>
              <a:rPr sz="1275" b="0" i="0">
                <a:solidFill>
                  <a:srgbClr val="12343B"/>
                </a:solidFill>
                <a:latin typeface="Arial"/>
                <a:ea typeface="Arial"/>
                <a:cs typeface="Arial"/>
              </a:rPr>
              <a:t>Supply Chain: 6.4% course demand vs 1.2% operations / supply-chain occupation</a:t>
            </a:r>
          </a:p>
        </p:txBody>
      </p:sp>
    </p:spTree>
    <p:extLst>
      <p:ext uri="{BB962C8B-B14F-4D97-AF65-F5344CB8AC3E}">
        <p14:creationId xmlns:p14="http://schemas.microsoft.com/office/powerpoint/2010/main" val="1939089020"/>
      </p:ext>
    </p:extLst>
  </p:cSld>
</p:sld>
</file>

<file path=ppt/slides/slide9.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88A8CFB-8D56-4624-B6CD-9FA03E657E2C}"/>
              </a:ext>
            </a:extLst>
          </p:cNvPr>
          <p:cNvSpPr>
            <a:spLocks xmlns:a="http://schemas.openxmlformats.org/drawingml/2006/main" noGrp="1"/>
          </p:cNvSpPr>
          <p:nvPr/>
        </p:nvSpPr>
        <p:spPr>
          <a:xfrm xmlns:a="http://schemas.openxmlformats.org/drawingml/2006/main">
            <a:off x="533400" y="3619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4523C"/>
                </a:solidFill>
                <a:latin typeface="Arial"/>
                <a:ea typeface="Arial"/>
                <a:cs typeface="Arial"/>
              </a:defRPr>
            </a:pPr>
            <a:r>
              <a:rPr sz="975" b="1" i="0">
                <a:solidFill>
                  <a:srgbClr val="C4523C"/>
                </a:solidFill>
                <a:latin typeface="Arial"/>
                <a:ea typeface="Arial"/>
                <a:cs typeface="Arial"/>
              </a:rPr>
              <a:t>TIMING</a:t>
            </a:r>
          </a:p>
        </p:txBody>
      </p:sp>
      <p:sp>
        <p:nvSpPr>
          <p:cNvPr id="2" name="">
            <a:extLst xmlns:a="http://schemas.openxmlformats.org/drawingml/2006/main">
              <a:ext uri="{FF2B5EF4-FFF2-40B4-BE49-F238E27FC236}">
                <a16:creationId xmlns:a16="http://schemas.microsoft.com/office/drawing/2014/main" id="{496FC3EF-E5C2-4E10-B02B-6F51A06E1E63}"/>
              </a:ext>
            </a:extLst>
          </p:cNvPr>
          <p:cNvSpPr>
            <a:spLocks xmlns:a="http://schemas.openxmlformats.org/drawingml/2006/main" noGrp="1"/>
          </p:cNvSpPr>
          <p:nvPr/>
        </p:nvSpPr>
        <p:spPr>
          <a:xfrm xmlns:a="http://schemas.openxmlformats.org/drawingml/2006/main">
            <a:off x="533400" y="6286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2343B"/>
                </a:solidFill>
                <a:latin typeface="Arial"/>
                <a:ea typeface="Arial"/>
                <a:cs typeface="Arial"/>
              </a:defRPr>
            </a:pPr>
            <a:r>
              <a:rPr sz="2700" b="1" i="0">
                <a:solidFill>
                  <a:srgbClr val="12343B"/>
                </a:solidFill>
                <a:latin typeface="Arial"/>
                <a:ea typeface="Arial"/>
                <a:cs typeface="Arial"/>
              </a:rPr>
              <a:t>Thursday and Friday evening are the high-intensity window</a:t>
            </a:r>
          </a:p>
        </p:txBody>
      </p:sp>
      <p:sp>
        <p:nvSpPr>
          <p:cNvPr id="3" name="">
            <a:extLst xmlns:a="http://schemas.openxmlformats.org/drawingml/2006/main">
              <a:ext uri="{FF2B5EF4-FFF2-40B4-BE49-F238E27FC236}">
                <a16:creationId xmlns:a16="http://schemas.microsoft.com/office/drawing/2014/main" id="{8562AE44-D174-42E3-B7CC-4B914BFF4E79}"/>
              </a:ext>
            </a:extLst>
          </p:cNvPr>
          <p:cNvSpPr>
            <a:spLocks xmlns:a="http://schemas.openxmlformats.org/drawingml/2006/main" noGrp="1"/>
          </p:cNvSpPr>
          <p:nvPr/>
        </p:nvSpPr>
        <p:spPr>
          <a:xfrm xmlns:a="http://schemas.openxmlformats.org/drawingml/2006/main">
            <a:off x="533400" y="1428750"/>
            <a:ext cx="7239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3204FFCD-C6F5-433C-B246-9A914C9454BC}"/>
              </a:ext>
            </a:extLst>
          </p:cNvPr>
          <p:cNvSpPr>
            <a:spLocks xmlns:a="http://schemas.openxmlformats.org/drawingml/2006/main" noGrp="1"/>
          </p:cNvSpPr>
          <p:nvPr/>
        </p:nvSpPr>
        <p:spPr>
          <a:xfrm xmlns:a="http://schemas.openxmlformats.org/drawingml/2006/main">
            <a:off x="533400" y="6572250"/>
            <a:ext cx="6477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A810B66E-EB68-4E35-815D-2AB247920C99}"/>
              </a:ext>
            </a:extLst>
          </p:cNvPr>
          <p:cNvSpPr>
            <a:spLocks xmlns:a="http://schemas.openxmlformats.org/drawingml/2006/main" noGrp="1"/>
          </p:cNvSpPr>
          <p:nvPr/>
        </p:nvSpPr>
        <p:spPr>
          <a:xfrm xmlns:a="http://schemas.openxmlformats.org/drawingml/2006/main">
            <a:off x="1295400" y="65341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i="0">
                <a:solidFill>
                  <a:srgbClr val="61737B"/>
                </a:solidFill>
                <a:latin typeface="Arial"/>
                <a:ea typeface="Arial"/>
                <a:cs typeface="Arial"/>
              </a:defRPr>
            </a:pPr>
            <a:r>
              <a:rPr sz="825" b="0" i="0">
                <a:solidFill>
                  <a:srgbClr val="61737B"/>
                </a:solidFill>
                <a:latin typeface="Arial"/>
                <a:ea typeface="Arial"/>
                <a:cs typeface="Arial"/>
              </a:rPr>
              <a:t>ZION TECH HUB  /  REGISTRATION GROWTH DECISION</a:t>
            </a:r>
          </a:p>
        </p:txBody>
      </p:sp>
      <p:sp>
        <p:nvSpPr>
          <p:cNvPr id="6" name="">
            <a:extLst xmlns:a="http://schemas.openxmlformats.org/drawingml/2006/main">
              <a:ext uri="{FF2B5EF4-FFF2-40B4-BE49-F238E27FC236}">
                <a16:creationId xmlns:a16="http://schemas.microsoft.com/office/drawing/2014/main" id="{854FFB43-4B34-4F69-BC0E-F10427DFDAEC}"/>
              </a:ext>
            </a:extLst>
          </p:cNvPr>
          <p:cNvSpPr>
            <a:spLocks xmlns:a="http://schemas.openxmlformats.org/drawingml/2006/main" noGrp="1"/>
          </p:cNvSpPr>
          <p:nvPr/>
        </p:nvSpPr>
        <p:spPr>
          <a:xfrm xmlns:a="http://schemas.openxmlformats.org/drawingml/2006/main">
            <a:off x="11334750" y="65151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61737B"/>
                </a:solidFill>
                <a:latin typeface="Arial"/>
                <a:ea typeface="Arial"/>
                <a:cs typeface="Arial"/>
              </a:defRPr>
            </a:pPr>
            <a:r>
              <a:rPr sz="900" b="1" i="0">
                <a:solidFill>
                  <a:srgbClr val="61737B"/>
                </a:solidFill>
                <a:latin typeface="Arial"/>
                <a:ea typeface="Arial"/>
                <a:cs typeface="Arial"/>
              </a:rPr>
              <a:t>09</a:t>
            </a:r>
          </a:p>
        </p:txBody>
      </p:sp>
      <p:graphicFrame>
        <p:nvGraphicFramePr>
          <p:cNvPr id="16" name="Chart"/>
          <p:cNvGraphicFramePr/>
          <p:nvPr/>
        </p:nvGraphicFramePr>
        <p:xfrm>
          <a:off xmlns:a="http://schemas.openxmlformats.org/drawingml/2006/main" x="609600" y="1828800"/>
          <a:ext xmlns:a="http://schemas.openxmlformats.org/drawingml/2006/main" cx="6667500" cy="3695700"/>
        </p:xfrm>
        <a:graphic xmlns:a="http://schemas.openxmlformats.org/drawingml/2006/main">
          <a:graphicData uri="http://schemas.openxmlformats.org/drawingml/2006/chart">
            <c:chart xmlns:r="http://schemas.openxmlformats.org/officeDocument/2006/relationships" xmlns:c="http://schemas.openxmlformats.org/drawingml/2006/chart" r:id="R23af8b52275a4399"/>
          </a:graphicData>
        </a:graphic>
      </p:graphicFrame>
      <p:graphicFrame>
        <p:nvGraphicFramePr>
          <p:cNvPr id="17" name="Chart"/>
          <p:cNvGraphicFramePr/>
          <p:nvPr/>
        </p:nvGraphicFramePr>
        <p:xfrm>
          <a:off xmlns:a="http://schemas.openxmlformats.org/drawingml/2006/main" x="7620000" y="1828800"/>
          <a:ext xmlns:a="http://schemas.openxmlformats.org/drawingml/2006/main" cx="3810000" cy="3695700"/>
        </p:xfrm>
        <a:graphic xmlns:a="http://schemas.openxmlformats.org/drawingml/2006/main">
          <a:graphicData uri="http://schemas.openxmlformats.org/drawingml/2006/chart">
            <c:chart xmlns:r="http://schemas.openxmlformats.org/officeDocument/2006/relationships" xmlns:c="http://schemas.openxmlformats.org/drawingml/2006/chart" r:id="R089f9d74a7454a9f"/>
          </a:graphicData>
        </a:graphic>
      </p:graphicFrame>
      <p:sp>
        <p:nvSpPr>
          <p:cNvPr id="9" name="">
            <a:extLst xmlns:a="http://schemas.openxmlformats.org/drawingml/2006/main">
              <a:ext uri="{FF2B5EF4-FFF2-40B4-BE49-F238E27FC236}">
                <a16:creationId xmlns:a16="http://schemas.microsoft.com/office/drawing/2014/main" id="{4F66006E-AEF5-4DFF-B239-95534A1CA9C6}"/>
              </a:ext>
            </a:extLst>
          </p:cNvPr>
          <p:cNvSpPr>
            <a:spLocks xmlns:a="http://schemas.openxmlformats.org/drawingml/2006/main" noGrp="1"/>
          </p:cNvSpPr>
          <p:nvPr/>
        </p:nvSpPr>
        <p:spPr>
          <a:xfrm xmlns:a="http://schemas.openxmlformats.org/drawingml/2006/main">
            <a:off x="857250" y="58293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C4523C"/>
                </a:solidFill>
                <a:latin typeface="Arial"/>
                <a:ea typeface="Arial"/>
                <a:cs typeface="Arial"/>
              </a:defRPr>
            </a:pPr>
            <a:r>
              <a:rPr sz="1725" b="1" i="0">
                <a:solidFill>
                  <a:srgbClr val="C4523C"/>
                </a:solidFill>
                <a:latin typeface="Arial"/>
                <a:ea typeface="Arial"/>
                <a:cs typeface="Arial"/>
              </a:rPr>
              <a:t>C10: 87.1% on Thu/Fri  |  62.0% in the evening  |  48.5% from 17:00–20:00</a:t>
            </a:r>
          </a:p>
        </p:txBody>
      </p:sp>
    </p:spTree>
    <p:extLst>
      <p:ext uri="{BB962C8B-B14F-4D97-AF65-F5344CB8AC3E}">
        <p14:creationId xmlns:p14="http://schemas.microsoft.com/office/powerpoint/2010/main" val="1523739989"/>
      </p:ext>
    </p:extLst>
  </p:cSld>
</p:sld>
</file>

<file path=ppt/slides/slide10.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92C377A-A5BF-47C9-8C41-8B4C9652A792}"/>
              </a:ext>
            </a:extLst>
          </p:cNvPr>
          <p:cNvSpPr>
            <a:spLocks xmlns:a="http://schemas.openxmlformats.org/drawingml/2006/main" noGrp="1"/>
          </p:cNvSpPr>
          <p:nvPr/>
        </p:nvSpPr>
        <p:spPr>
          <a:xfrm xmlns:a="http://schemas.openxmlformats.org/drawingml/2006/main">
            <a:off x="533400" y="3619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4523C"/>
                </a:solidFill>
                <a:latin typeface="Arial"/>
                <a:ea typeface="Arial"/>
                <a:cs typeface="Arial"/>
              </a:defRPr>
            </a:pPr>
            <a:r>
              <a:rPr sz="975" b="1" i="0">
                <a:solidFill>
                  <a:srgbClr val="C4523C"/>
                </a:solidFill>
                <a:latin typeface="Arial"/>
                <a:ea typeface="Arial"/>
                <a:cs typeface="Arial"/>
              </a:rPr>
              <a:t>COMMUNITY AND FUNNEL</a:t>
            </a:r>
          </a:p>
        </p:txBody>
      </p:sp>
      <p:sp>
        <p:nvSpPr>
          <p:cNvPr id="2" name="">
            <a:extLst xmlns:a="http://schemas.openxmlformats.org/drawingml/2006/main">
              <a:ext uri="{FF2B5EF4-FFF2-40B4-BE49-F238E27FC236}">
                <a16:creationId xmlns:a16="http://schemas.microsoft.com/office/drawing/2014/main" id="{BF5834F1-2458-4075-A492-8B67E758963F}"/>
              </a:ext>
            </a:extLst>
          </p:cNvPr>
          <p:cNvSpPr>
            <a:spLocks xmlns:a="http://schemas.openxmlformats.org/drawingml/2006/main" noGrp="1"/>
          </p:cNvSpPr>
          <p:nvPr/>
        </p:nvSpPr>
        <p:spPr>
          <a:xfrm xmlns:a="http://schemas.openxmlformats.org/drawingml/2006/main">
            <a:off x="533400" y="6286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2343B"/>
                </a:solidFill>
                <a:latin typeface="Arial"/>
                <a:ea typeface="Arial"/>
                <a:cs typeface="Arial"/>
              </a:defRPr>
            </a:pPr>
            <a:r>
              <a:rPr sz="2700" b="1" i="0">
                <a:solidFill>
                  <a:srgbClr val="12343B"/>
                </a:solidFill>
                <a:latin typeface="Arial"/>
                <a:ea typeface="Arial"/>
                <a:cs typeface="Arial"/>
              </a:rPr>
              <a:t>The biggest fix is measurement, with WhatsApp and referrals as the loop</a:t>
            </a:r>
          </a:p>
        </p:txBody>
      </p:sp>
      <p:sp>
        <p:nvSpPr>
          <p:cNvPr id="3" name="">
            <a:extLst xmlns:a="http://schemas.openxmlformats.org/drawingml/2006/main">
              <a:ext uri="{FF2B5EF4-FFF2-40B4-BE49-F238E27FC236}">
                <a16:creationId xmlns:a16="http://schemas.microsoft.com/office/drawing/2014/main" id="{C1EA92A2-5987-46EE-A480-2674FE060084}"/>
              </a:ext>
            </a:extLst>
          </p:cNvPr>
          <p:cNvSpPr>
            <a:spLocks xmlns:a="http://schemas.openxmlformats.org/drawingml/2006/main" noGrp="1"/>
          </p:cNvSpPr>
          <p:nvPr/>
        </p:nvSpPr>
        <p:spPr>
          <a:xfrm xmlns:a="http://schemas.openxmlformats.org/drawingml/2006/main">
            <a:off x="533400" y="1428750"/>
            <a:ext cx="7239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C0CF6574-1651-4867-BA4A-18AEA0274FC2}"/>
              </a:ext>
            </a:extLst>
          </p:cNvPr>
          <p:cNvSpPr>
            <a:spLocks xmlns:a="http://schemas.openxmlformats.org/drawingml/2006/main" noGrp="1"/>
          </p:cNvSpPr>
          <p:nvPr/>
        </p:nvSpPr>
        <p:spPr>
          <a:xfrm xmlns:a="http://schemas.openxmlformats.org/drawingml/2006/main">
            <a:off x="533400" y="6572250"/>
            <a:ext cx="6477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8D2A122F-76F7-4238-BC19-3E101B7BD6E1}"/>
              </a:ext>
            </a:extLst>
          </p:cNvPr>
          <p:cNvSpPr>
            <a:spLocks xmlns:a="http://schemas.openxmlformats.org/drawingml/2006/main" noGrp="1"/>
          </p:cNvSpPr>
          <p:nvPr/>
        </p:nvSpPr>
        <p:spPr>
          <a:xfrm xmlns:a="http://schemas.openxmlformats.org/drawingml/2006/main">
            <a:off x="1295400" y="65341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i="0">
                <a:solidFill>
                  <a:srgbClr val="61737B"/>
                </a:solidFill>
                <a:latin typeface="Arial"/>
                <a:ea typeface="Arial"/>
                <a:cs typeface="Arial"/>
              </a:defRPr>
            </a:pPr>
            <a:r>
              <a:rPr sz="825" b="0" i="0">
                <a:solidFill>
                  <a:srgbClr val="61737B"/>
                </a:solidFill>
                <a:latin typeface="Arial"/>
                <a:ea typeface="Arial"/>
                <a:cs typeface="Arial"/>
              </a:rPr>
              <a:t>ZION TECH HUB  /  REGISTRATION GROWTH DECISION</a:t>
            </a:r>
          </a:p>
        </p:txBody>
      </p:sp>
      <p:sp>
        <p:nvSpPr>
          <p:cNvPr id="6" name="">
            <a:extLst xmlns:a="http://schemas.openxmlformats.org/drawingml/2006/main">
              <a:ext uri="{FF2B5EF4-FFF2-40B4-BE49-F238E27FC236}">
                <a16:creationId xmlns:a16="http://schemas.microsoft.com/office/drawing/2014/main" id="{3306FD7A-38C4-4D51-B877-9DEAED81402A}"/>
              </a:ext>
            </a:extLst>
          </p:cNvPr>
          <p:cNvSpPr>
            <a:spLocks xmlns:a="http://schemas.openxmlformats.org/drawingml/2006/main" noGrp="1"/>
          </p:cNvSpPr>
          <p:nvPr/>
        </p:nvSpPr>
        <p:spPr>
          <a:xfrm xmlns:a="http://schemas.openxmlformats.org/drawingml/2006/main">
            <a:off x="11334750" y="65151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61737B"/>
                </a:solidFill>
                <a:latin typeface="Arial"/>
                <a:ea typeface="Arial"/>
                <a:cs typeface="Arial"/>
              </a:defRPr>
            </a:pPr>
            <a:r>
              <a:rPr sz="900" b="1" i="0">
                <a:solidFill>
                  <a:srgbClr val="61737B"/>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ABEE5771-6324-4AA5-BC98-2585CFB6EAB4}"/>
              </a:ext>
            </a:extLst>
          </p:cNvPr>
          <p:cNvSpPr>
            <a:spLocks xmlns:a="http://schemas.openxmlformats.org/drawingml/2006/main" noGrp="1"/>
          </p:cNvSpPr>
          <p:nvPr/>
        </p:nvSpPr>
        <p:spPr>
          <a:xfrm xmlns:a="http://schemas.openxmlformats.org/drawingml/2006/main">
            <a:off x="723900" y="18288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C4523C"/>
                </a:solidFill>
                <a:latin typeface="Arial"/>
                <a:ea typeface="Arial"/>
                <a:cs typeface="Arial"/>
              </a:defRPr>
            </a:pPr>
            <a:r>
              <a:rPr sz="1875" b="1" i="0">
                <a:solidFill>
                  <a:srgbClr val="C4523C"/>
                </a:solidFill>
                <a:latin typeface="Arial"/>
                <a:ea typeface="Arial"/>
                <a:cs typeface="Arial"/>
              </a:rPr>
              <a:t>WhatsApp</a:t>
            </a:r>
          </a:p>
        </p:txBody>
      </p:sp>
      <p:sp>
        <p:nvSpPr>
          <p:cNvPr id="8" name="">
            <a:extLst xmlns:a="http://schemas.openxmlformats.org/drawingml/2006/main">
              <a:ext uri="{FF2B5EF4-FFF2-40B4-BE49-F238E27FC236}">
                <a16:creationId xmlns:a16="http://schemas.microsoft.com/office/drawing/2014/main" id="{A496B0DA-B161-41C1-B755-E2AAFB236A56}"/>
              </a:ext>
            </a:extLst>
          </p:cNvPr>
          <p:cNvSpPr>
            <a:spLocks xmlns:a="http://schemas.openxmlformats.org/drawingml/2006/main" noGrp="1"/>
          </p:cNvSpPr>
          <p:nvPr/>
        </p:nvSpPr>
        <p:spPr>
          <a:xfrm xmlns:a="http://schemas.openxmlformats.org/drawingml/2006/main">
            <a:off x="723900" y="2266950"/>
            <a:ext cx="304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20323D"/>
                </a:solidFill>
                <a:latin typeface="Arial"/>
                <a:ea typeface="Arial"/>
                <a:cs typeface="Arial"/>
              </a:defRPr>
            </a:pPr>
            <a:r>
              <a:rPr sz="1575" b="0" i="0">
                <a:solidFill>
                  <a:srgbClr val="20323D"/>
                </a:solidFill>
                <a:latin typeface="Arial"/>
                <a:ea typeface="Arial"/>
                <a:cs typeface="Arial"/>
              </a:rPr>
              <a:t>Share fell from 18.3% in C9 to 2.9% in C10. That could be weaker community activation or a source-label leak. Rebuild the message cadence and tag every link.</a:t>
            </a:r>
          </a:p>
        </p:txBody>
      </p:sp>
      <p:sp>
        <p:nvSpPr>
          <p:cNvPr id="9" name="">
            <a:extLst xmlns:a="http://schemas.openxmlformats.org/drawingml/2006/main">
              <a:ext uri="{FF2B5EF4-FFF2-40B4-BE49-F238E27FC236}">
                <a16:creationId xmlns:a16="http://schemas.microsoft.com/office/drawing/2014/main" id="{5B339C74-64D7-406A-A3AD-A2AC1EEF274C}"/>
              </a:ext>
            </a:extLst>
          </p:cNvPr>
          <p:cNvSpPr>
            <a:spLocks xmlns:a="http://schemas.openxmlformats.org/drawingml/2006/main" noGrp="1"/>
          </p:cNvSpPr>
          <p:nvPr/>
        </p:nvSpPr>
        <p:spPr>
          <a:xfrm xmlns:a="http://schemas.openxmlformats.org/drawingml/2006/main">
            <a:off x="4533900" y="18288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12343B"/>
                </a:solidFill>
                <a:latin typeface="Arial"/>
                <a:ea typeface="Arial"/>
                <a:cs typeface="Arial"/>
              </a:defRPr>
            </a:pPr>
            <a:r>
              <a:rPr sz="1875" b="1" i="0">
                <a:solidFill>
                  <a:srgbClr val="12343B"/>
                </a:solidFill>
                <a:latin typeface="Arial"/>
                <a:ea typeface="Arial"/>
                <a:cs typeface="Arial"/>
              </a:rPr>
              <a:t>Referral</a:t>
            </a:r>
          </a:p>
        </p:txBody>
      </p:sp>
      <p:sp>
        <p:nvSpPr>
          <p:cNvPr id="10" name="">
            <a:extLst xmlns:a="http://schemas.openxmlformats.org/drawingml/2006/main">
              <a:ext uri="{FF2B5EF4-FFF2-40B4-BE49-F238E27FC236}">
                <a16:creationId xmlns:a16="http://schemas.microsoft.com/office/drawing/2014/main" id="{A1B92EC4-7B9A-40B6-AA19-51F33B3E9692}"/>
              </a:ext>
            </a:extLst>
          </p:cNvPr>
          <p:cNvSpPr>
            <a:spLocks xmlns:a="http://schemas.openxmlformats.org/drawingml/2006/main" noGrp="1"/>
          </p:cNvSpPr>
          <p:nvPr/>
        </p:nvSpPr>
        <p:spPr>
          <a:xfrm xmlns:a="http://schemas.openxmlformats.org/drawingml/2006/main">
            <a:off x="4533900" y="2266950"/>
            <a:ext cx="304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20323D"/>
                </a:solidFill>
                <a:latin typeface="Arial"/>
                <a:ea typeface="Arial"/>
                <a:cs typeface="Arial"/>
              </a:defRPr>
            </a:pPr>
            <a:r>
              <a:rPr sz="1575" b="0" i="0">
                <a:solidFill>
                  <a:srgbClr val="20323D"/>
                </a:solidFill>
                <a:latin typeface="Arial"/>
                <a:ea typeface="Arial"/>
                <a:cs typeface="Arial"/>
              </a:rPr>
              <a:t>Share stayed near 2.4% across both cohorts. Volume is small, but the signal is stable enough to formalize a member-to-member referral prompt.</a:t>
            </a:r>
          </a:p>
        </p:txBody>
      </p:sp>
      <p:sp>
        <p:nvSpPr>
          <p:cNvPr id="11" name="">
            <a:extLst xmlns:a="http://schemas.openxmlformats.org/drawingml/2006/main">
              <a:ext uri="{FF2B5EF4-FFF2-40B4-BE49-F238E27FC236}">
                <a16:creationId xmlns:a16="http://schemas.microsoft.com/office/drawing/2014/main" id="{B1985AED-ABC9-4507-8620-0CD537292CA3}"/>
              </a:ext>
            </a:extLst>
          </p:cNvPr>
          <p:cNvSpPr>
            <a:spLocks xmlns:a="http://schemas.openxmlformats.org/drawingml/2006/main" noGrp="1"/>
          </p:cNvSpPr>
          <p:nvPr/>
        </p:nvSpPr>
        <p:spPr>
          <a:xfrm xmlns:a="http://schemas.openxmlformats.org/drawingml/2006/main">
            <a:off x="8343900" y="18288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E28E54"/>
                </a:solidFill>
                <a:latin typeface="Arial"/>
                <a:ea typeface="Arial"/>
                <a:cs typeface="Arial"/>
              </a:defRPr>
            </a:pPr>
            <a:r>
              <a:rPr sz="1875" b="1" i="0">
                <a:solidFill>
                  <a:srgbClr val="E28E54"/>
                </a:solidFill>
                <a:latin typeface="Arial"/>
                <a:ea typeface="Arial"/>
                <a:cs typeface="Arial"/>
              </a:rPr>
              <a:t>Measurement</a:t>
            </a:r>
          </a:p>
        </p:txBody>
      </p:sp>
      <p:sp>
        <p:nvSpPr>
          <p:cNvPr id="12" name="">
            <a:extLst xmlns:a="http://schemas.openxmlformats.org/drawingml/2006/main">
              <a:ext uri="{FF2B5EF4-FFF2-40B4-BE49-F238E27FC236}">
                <a16:creationId xmlns:a16="http://schemas.microsoft.com/office/drawing/2014/main" id="{BA66FCE7-576C-478F-A7F5-9AED4859277F}"/>
              </a:ext>
            </a:extLst>
          </p:cNvPr>
          <p:cNvSpPr>
            <a:spLocks xmlns:a="http://schemas.openxmlformats.org/drawingml/2006/main" noGrp="1"/>
          </p:cNvSpPr>
          <p:nvPr/>
        </p:nvSpPr>
        <p:spPr>
          <a:xfrm xmlns:a="http://schemas.openxmlformats.org/drawingml/2006/main">
            <a:off x="8343900" y="2266950"/>
            <a:ext cx="304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20323D"/>
                </a:solidFill>
                <a:latin typeface="Arial"/>
                <a:ea typeface="Arial"/>
                <a:cs typeface="Arial"/>
              </a:defRPr>
            </a:pPr>
            <a:r>
              <a:rPr sz="1575" b="0" i="0">
                <a:solidFill>
                  <a:srgbClr val="20323D"/>
                </a:solidFill>
                <a:latin typeface="Arial"/>
                <a:ea typeface="Arial"/>
                <a:cs typeface="Arial"/>
              </a:rPr>
              <a:t>The exports do not include spend, campaign, UTM, payment status or downstream enrollment. Add those fields before judging paid efficiency.</a:t>
            </a:r>
          </a:p>
        </p:txBody>
      </p:sp>
      <p:sp>
        <p:nvSpPr>
          <p:cNvPr id="13" name="">
            <a:extLst xmlns:a="http://schemas.openxmlformats.org/drawingml/2006/main">
              <a:ext uri="{FF2B5EF4-FFF2-40B4-BE49-F238E27FC236}">
                <a16:creationId xmlns:a16="http://schemas.microsoft.com/office/drawing/2014/main" id="{98C8A9D6-ECB2-45BF-AB53-FA7B8447E206}"/>
              </a:ext>
            </a:extLst>
          </p:cNvPr>
          <p:cNvSpPr>
            <a:spLocks xmlns:a="http://schemas.openxmlformats.org/drawingml/2006/main" noGrp="1"/>
          </p:cNvSpPr>
          <p:nvPr/>
        </p:nvSpPr>
        <p:spPr>
          <a:xfrm xmlns:a="http://schemas.openxmlformats.org/drawingml/2006/main">
            <a:off x="723900" y="4362450"/>
            <a:ext cx="10668000" cy="47625"/>
          </a:xfrm>
          <a:prstGeom xmlns:a="http://schemas.openxmlformats.org/drawingml/2006/main" prst="rect">
            <a:avLst/>
          </a:prstGeom>
          <a:solidFill xmlns:a="http://schemas.openxmlformats.org/drawingml/2006/main">
            <a:srgbClr val="C8D4D0"/>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8C174F2E-44EF-48B7-A4B0-FA8EB28F8D89}"/>
              </a:ext>
            </a:extLst>
          </p:cNvPr>
          <p:cNvSpPr>
            <a:spLocks xmlns:a="http://schemas.openxmlformats.org/drawingml/2006/main" noGrp="1"/>
          </p:cNvSpPr>
          <p:nvPr/>
        </p:nvSpPr>
        <p:spPr>
          <a:xfrm xmlns:a="http://schemas.openxmlformats.org/drawingml/2006/main">
            <a:off x="723900" y="46863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12343B"/>
                </a:solidFill>
                <a:latin typeface="Arial"/>
                <a:ea typeface="Arial"/>
                <a:cs typeface="Arial"/>
              </a:defRPr>
            </a:pPr>
            <a:r>
              <a:rPr sz="1650" b="1" i="0">
                <a:solidFill>
                  <a:srgbClr val="12343B"/>
                </a:solidFill>
                <a:latin typeface="Arial"/>
                <a:ea typeface="Arial"/>
                <a:cs typeface="Arial"/>
              </a:rPr>
              <a:t>Next-week operating rule</a:t>
            </a:r>
          </a:p>
        </p:txBody>
      </p:sp>
      <p:sp>
        <p:nvSpPr>
          <p:cNvPr id="15" name="">
            <a:extLst xmlns:a="http://schemas.openxmlformats.org/drawingml/2006/main">
              <a:ext uri="{FF2B5EF4-FFF2-40B4-BE49-F238E27FC236}">
                <a16:creationId xmlns:a16="http://schemas.microsoft.com/office/drawing/2014/main" id="{DAEC4525-09D6-42B3-9842-89EF1C6EB58C}"/>
              </a:ext>
            </a:extLst>
          </p:cNvPr>
          <p:cNvSpPr>
            <a:spLocks xmlns:a="http://schemas.openxmlformats.org/drawingml/2006/main" noGrp="1"/>
          </p:cNvSpPr>
          <p:nvPr/>
        </p:nvSpPr>
        <p:spPr>
          <a:xfrm xmlns:a="http://schemas.openxmlformats.org/drawingml/2006/main">
            <a:off x="723900" y="51054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20323D"/>
                </a:solidFill>
                <a:latin typeface="Arial"/>
                <a:ea typeface="Arial"/>
                <a:cs typeface="Arial"/>
              </a:defRPr>
            </a:pPr>
            <a:r>
              <a:rPr sz="1875" b="1" i="0">
                <a:solidFill>
                  <a:srgbClr val="20323D"/>
                </a:solidFill>
                <a:latin typeface="Arial"/>
                <a:ea typeface="Arial"/>
                <a:cs typeface="Arial"/>
              </a:rPr>
              <a:t>Every ad and community link should carry a source, campaign, audience and referral code. Reallocate after the first 7 days using cost per registration and payment status.</a:t>
            </a:r>
          </a:p>
        </p:txBody>
      </p:sp>
    </p:spTree>
    <p:extLst>
      <p:ext uri="{BB962C8B-B14F-4D97-AF65-F5344CB8AC3E}">
        <p14:creationId xmlns:p14="http://schemas.microsoft.com/office/powerpoint/2010/main" val="705301766"/>
      </p:ext>
    </p:extLst>
  </p:cSld>
</p:sld>
</file>

<file path=ppt/slides/slide11.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BF26118-3284-467C-99AE-AD09D1A3B83A}"/>
              </a:ext>
            </a:extLst>
          </p:cNvPr>
          <p:cNvSpPr>
            <a:spLocks xmlns:a="http://schemas.openxmlformats.org/drawingml/2006/main" noGrp="1"/>
          </p:cNvSpPr>
          <p:nvPr/>
        </p:nvSpPr>
        <p:spPr>
          <a:xfrm xmlns:a="http://schemas.openxmlformats.org/drawingml/2006/main">
            <a:off x="533400" y="3619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4523C"/>
                </a:solidFill>
                <a:latin typeface="Arial"/>
                <a:ea typeface="Arial"/>
                <a:cs typeface="Arial"/>
              </a:defRPr>
            </a:pPr>
            <a:r>
              <a:rPr sz="975" b="1" i="0">
                <a:solidFill>
                  <a:srgbClr val="C4523C"/>
                </a:solidFill>
                <a:latin typeface="Arial"/>
                <a:ea typeface="Arial"/>
                <a:cs typeface="Arial"/>
              </a:rPr>
              <a:t>RECOMMENDATIONS</a:t>
            </a:r>
          </a:p>
        </p:txBody>
      </p:sp>
      <p:sp>
        <p:nvSpPr>
          <p:cNvPr id="2" name="">
            <a:extLst xmlns:a="http://schemas.openxmlformats.org/drawingml/2006/main">
              <a:ext uri="{FF2B5EF4-FFF2-40B4-BE49-F238E27FC236}">
                <a16:creationId xmlns:a16="http://schemas.microsoft.com/office/drawing/2014/main" id="{E6F365FB-02A4-4991-B74B-914985D355AE}"/>
              </a:ext>
            </a:extLst>
          </p:cNvPr>
          <p:cNvSpPr>
            <a:spLocks xmlns:a="http://schemas.openxmlformats.org/drawingml/2006/main" noGrp="1"/>
          </p:cNvSpPr>
          <p:nvPr/>
        </p:nvSpPr>
        <p:spPr>
          <a:xfrm xmlns:a="http://schemas.openxmlformats.org/drawingml/2006/main">
            <a:off x="533400" y="6286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2343B"/>
                </a:solidFill>
                <a:latin typeface="Arial"/>
                <a:ea typeface="Arial"/>
                <a:cs typeface="Arial"/>
              </a:defRPr>
            </a:pPr>
            <a:r>
              <a:rPr sz="2700" b="1" i="0">
                <a:solidFill>
                  <a:srgbClr val="12343B"/>
                </a:solidFill>
                <a:latin typeface="Arial"/>
                <a:ea typeface="Arial"/>
                <a:cs typeface="Arial"/>
              </a:rPr>
              <a:t>Five actions tied directly to the registration evidence</a:t>
            </a:r>
          </a:p>
        </p:txBody>
      </p:sp>
      <p:sp>
        <p:nvSpPr>
          <p:cNvPr id="3" name="">
            <a:extLst xmlns:a="http://schemas.openxmlformats.org/drawingml/2006/main">
              <a:ext uri="{FF2B5EF4-FFF2-40B4-BE49-F238E27FC236}">
                <a16:creationId xmlns:a16="http://schemas.microsoft.com/office/drawing/2014/main" id="{6E84EA79-5ADD-4712-9F23-FD3B44A1890F}"/>
              </a:ext>
            </a:extLst>
          </p:cNvPr>
          <p:cNvSpPr>
            <a:spLocks xmlns:a="http://schemas.openxmlformats.org/drawingml/2006/main" noGrp="1"/>
          </p:cNvSpPr>
          <p:nvPr/>
        </p:nvSpPr>
        <p:spPr>
          <a:xfrm xmlns:a="http://schemas.openxmlformats.org/drawingml/2006/main">
            <a:off x="533400" y="1428750"/>
            <a:ext cx="7239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C969F3AA-D397-42F5-9B12-26C3CC285A68}"/>
              </a:ext>
            </a:extLst>
          </p:cNvPr>
          <p:cNvSpPr>
            <a:spLocks xmlns:a="http://schemas.openxmlformats.org/drawingml/2006/main" noGrp="1"/>
          </p:cNvSpPr>
          <p:nvPr/>
        </p:nvSpPr>
        <p:spPr>
          <a:xfrm xmlns:a="http://schemas.openxmlformats.org/drawingml/2006/main">
            <a:off x="533400" y="6572250"/>
            <a:ext cx="6477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0729D089-60F1-43E3-B12D-633A07EC5987}"/>
              </a:ext>
            </a:extLst>
          </p:cNvPr>
          <p:cNvSpPr>
            <a:spLocks xmlns:a="http://schemas.openxmlformats.org/drawingml/2006/main" noGrp="1"/>
          </p:cNvSpPr>
          <p:nvPr/>
        </p:nvSpPr>
        <p:spPr>
          <a:xfrm xmlns:a="http://schemas.openxmlformats.org/drawingml/2006/main">
            <a:off x="1295400" y="65341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i="0">
                <a:solidFill>
                  <a:srgbClr val="61737B"/>
                </a:solidFill>
                <a:latin typeface="Arial"/>
                <a:ea typeface="Arial"/>
                <a:cs typeface="Arial"/>
              </a:defRPr>
            </a:pPr>
            <a:r>
              <a:rPr sz="825" b="0" i="0">
                <a:solidFill>
                  <a:srgbClr val="61737B"/>
                </a:solidFill>
                <a:latin typeface="Arial"/>
                <a:ea typeface="Arial"/>
                <a:cs typeface="Arial"/>
              </a:rPr>
              <a:t>ZION TECH HUB  /  REGISTRATION GROWTH DECISION</a:t>
            </a:r>
          </a:p>
        </p:txBody>
      </p:sp>
      <p:sp>
        <p:nvSpPr>
          <p:cNvPr id="6" name="">
            <a:extLst xmlns:a="http://schemas.openxmlformats.org/drawingml/2006/main">
              <a:ext uri="{FF2B5EF4-FFF2-40B4-BE49-F238E27FC236}">
                <a16:creationId xmlns:a16="http://schemas.microsoft.com/office/drawing/2014/main" id="{10FDDBD9-C4AA-428A-A97F-DA06231C6F87}"/>
              </a:ext>
            </a:extLst>
          </p:cNvPr>
          <p:cNvSpPr>
            <a:spLocks xmlns:a="http://schemas.openxmlformats.org/drawingml/2006/main" noGrp="1"/>
          </p:cNvSpPr>
          <p:nvPr/>
        </p:nvSpPr>
        <p:spPr>
          <a:xfrm xmlns:a="http://schemas.openxmlformats.org/drawingml/2006/main">
            <a:off x="11334750" y="65151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61737B"/>
                </a:solidFill>
                <a:latin typeface="Arial"/>
                <a:ea typeface="Arial"/>
                <a:cs typeface="Arial"/>
              </a:defRPr>
            </a:pPr>
            <a:r>
              <a:rPr sz="900" b="1" i="0">
                <a:solidFill>
                  <a:srgbClr val="61737B"/>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D460ECF5-CB1E-40A7-B5AF-553D6824DE86}"/>
              </a:ext>
            </a:extLst>
          </p:cNvPr>
          <p:cNvSpPr>
            <a:spLocks xmlns:a="http://schemas.openxmlformats.org/drawingml/2006/main" noGrp="1"/>
          </p:cNvSpPr>
          <p:nvPr/>
        </p:nvSpPr>
        <p:spPr>
          <a:xfrm xmlns:a="http://schemas.openxmlformats.org/drawingml/2006/main">
            <a:off x="723900" y="1714500"/>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C4523C"/>
                </a:solidFill>
                <a:latin typeface="Arial"/>
                <a:ea typeface="Arial"/>
                <a:cs typeface="Arial"/>
              </a:defRPr>
            </a:pPr>
            <a:r>
              <a:rPr sz="1800" b="1" i="0">
                <a:solidFill>
                  <a:srgbClr val="C4523C"/>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48D8815D-E545-4259-B857-BA60811D6829}"/>
              </a:ext>
            </a:extLst>
          </p:cNvPr>
          <p:cNvSpPr>
            <a:spLocks xmlns:a="http://schemas.openxmlformats.org/drawingml/2006/main" noGrp="1"/>
          </p:cNvSpPr>
          <p:nvPr/>
        </p:nvSpPr>
        <p:spPr>
          <a:xfrm xmlns:a="http://schemas.openxmlformats.org/drawingml/2006/main">
            <a:off x="1466850" y="1714500"/>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12343B"/>
                </a:solidFill>
                <a:latin typeface="Arial"/>
                <a:ea typeface="Arial"/>
                <a:cs typeface="Arial"/>
              </a:defRPr>
            </a:pPr>
            <a:r>
              <a:rPr sz="1725" b="1" i="0">
                <a:solidFill>
                  <a:srgbClr val="12343B"/>
                </a:solidFill>
                <a:latin typeface="Arial"/>
                <a:ea typeface="Arial"/>
                <a:cs typeface="Arial"/>
              </a:rPr>
              <a:t>Concentrate paid reach on X/Twitter</a:t>
            </a:r>
          </a:p>
        </p:txBody>
      </p:sp>
      <p:sp>
        <p:nvSpPr>
          <p:cNvPr id="9" name="">
            <a:extLst xmlns:a="http://schemas.openxmlformats.org/drawingml/2006/main">
              <a:ext uri="{FF2B5EF4-FFF2-40B4-BE49-F238E27FC236}">
                <a16:creationId xmlns:a16="http://schemas.microsoft.com/office/drawing/2014/main" id="{98AB6342-B3A0-47F4-8849-338B282EFE62}"/>
              </a:ext>
            </a:extLst>
          </p:cNvPr>
          <p:cNvSpPr>
            <a:spLocks xmlns:a="http://schemas.openxmlformats.org/drawingml/2006/main" noGrp="1"/>
          </p:cNvSpPr>
          <p:nvPr/>
        </p:nvSpPr>
        <p:spPr>
          <a:xfrm xmlns:a="http://schemas.openxmlformats.org/drawingml/2006/main">
            <a:off x="6000750" y="1714500"/>
            <a:ext cx="514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20323D"/>
                </a:solidFill>
                <a:latin typeface="Arial"/>
                <a:ea typeface="Arial"/>
                <a:cs typeface="Arial"/>
              </a:defRPr>
            </a:pPr>
            <a:r>
              <a:rPr sz="1275" b="0" i="0">
                <a:solidFill>
                  <a:srgbClr val="20323D"/>
                </a:solidFill>
                <a:latin typeface="Arial"/>
                <a:ea typeface="Arial"/>
                <a:cs typeface="Arial"/>
              </a:rPr>
              <a:t>It produced 86.5% of Cohort 10 registrations and 62.6% of Cohort 9 registrations. Keep the first media test at 60% there.</a:t>
            </a:r>
          </a:p>
        </p:txBody>
      </p:sp>
      <p:sp>
        <p:nvSpPr>
          <p:cNvPr id="10" name="">
            <a:extLst xmlns:a="http://schemas.openxmlformats.org/drawingml/2006/main">
              <a:ext uri="{FF2B5EF4-FFF2-40B4-BE49-F238E27FC236}">
                <a16:creationId xmlns:a16="http://schemas.microsoft.com/office/drawing/2014/main" id="{B59BCC9E-A3B7-4B91-A0E2-0562A008098D}"/>
              </a:ext>
            </a:extLst>
          </p:cNvPr>
          <p:cNvSpPr>
            <a:spLocks xmlns:a="http://schemas.openxmlformats.org/drawingml/2006/main" noGrp="1"/>
          </p:cNvSpPr>
          <p:nvPr/>
        </p:nvSpPr>
        <p:spPr>
          <a:xfrm xmlns:a="http://schemas.openxmlformats.org/drawingml/2006/main">
            <a:off x="1466850" y="2400300"/>
            <a:ext cx="9677400" cy="47625"/>
          </a:xfrm>
          <a:prstGeom xmlns:a="http://schemas.openxmlformats.org/drawingml/2006/main" prst="rect">
            <a:avLst/>
          </a:prstGeom>
          <a:solidFill xmlns:a="http://schemas.openxmlformats.org/drawingml/2006/main">
            <a:srgbClr val="C8D4D0"/>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CFBFDA6D-AE54-443B-B762-8D520A17DD22}"/>
              </a:ext>
            </a:extLst>
          </p:cNvPr>
          <p:cNvSpPr>
            <a:spLocks xmlns:a="http://schemas.openxmlformats.org/drawingml/2006/main" noGrp="1"/>
          </p:cNvSpPr>
          <p:nvPr/>
        </p:nvSpPr>
        <p:spPr>
          <a:xfrm xmlns:a="http://schemas.openxmlformats.org/drawingml/2006/main">
            <a:off x="723900" y="2628900"/>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C4523C"/>
                </a:solidFill>
                <a:latin typeface="Arial"/>
                <a:ea typeface="Arial"/>
                <a:cs typeface="Arial"/>
              </a:defRPr>
            </a:pPr>
            <a:r>
              <a:rPr sz="1800" b="1" i="0">
                <a:solidFill>
                  <a:srgbClr val="C4523C"/>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13B4282E-14EC-48B5-9A1A-AF6CF737366E}"/>
              </a:ext>
            </a:extLst>
          </p:cNvPr>
          <p:cNvSpPr>
            <a:spLocks xmlns:a="http://schemas.openxmlformats.org/drawingml/2006/main" noGrp="1"/>
          </p:cNvSpPr>
          <p:nvPr/>
        </p:nvSpPr>
        <p:spPr>
          <a:xfrm xmlns:a="http://schemas.openxmlformats.org/drawingml/2006/main">
            <a:off x="1466850" y="2628900"/>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12343B"/>
                </a:solidFill>
                <a:latin typeface="Arial"/>
                <a:ea typeface="Arial"/>
                <a:cs typeface="Arial"/>
              </a:defRPr>
            </a:pPr>
            <a:r>
              <a:rPr sz="1725" b="1" i="0">
                <a:solidFill>
                  <a:srgbClr val="12343B"/>
                </a:solidFill>
                <a:latin typeface="Arial"/>
                <a:ea typeface="Arial"/>
                <a:cs typeface="Arial"/>
              </a:rPr>
              <a:t>Schedule the push around Thu/Fri evenings</a:t>
            </a:r>
          </a:p>
        </p:txBody>
      </p:sp>
      <p:sp>
        <p:nvSpPr>
          <p:cNvPr id="13" name="">
            <a:extLst xmlns:a="http://schemas.openxmlformats.org/drawingml/2006/main">
              <a:ext uri="{FF2B5EF4-FFF2-40B4-BE49-F238E27FC236}">
                <a16:creationId xmlns:a16="http://schemas.microsoft.com/office/drawing/2014/main" id="{48DFCB96-FB57-489F-9C08-CF851F0FFEA3}"/>
              </a:ext>
            </a:extLst>
          </p:cNvPr>
          <p:cNvSpPr>
            <a:spLocks xmlns:a="http://schemas.openxmlformats.org/drawingml/2006/main" noGrp="1"/>
          </p:cNvSpPr>
          <p:nvPr/>
        </p:nvSpPr>
        <p:spPr>
          <a:xfrm xmlns:a="http://schemas.openxmlformats.org/drawingml/2006/main">
            <a:off x="6000750" y="2628900"/>
            <a:ext cx="514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20323D"/>
                </a:solidFill>
                <a:latin typeface="Arial"/>
                <a:ea typeface="Arial"/>
                <a:cs typeface="Arial"/>
              </a:defRPr>
            </a:pPr>
            <a:r>
              <a:rPr sz="1275" b="0" i="0">
                <a:solidFill>
                  <a:srgbClr val="20323D"/>
                </a:solidFill>
                <a:latin typeface="Arial"/>
                <a:ea typeface="Arial"/>
                <a:cs typeface="Arial"/>
              </a:rPr>
              <a:t>C10 produced 87.1% of registrations on Thursday and Friday, with 62.0% in the evening. Launch mid-week, then intensify 17:00–20:00.</a:t>
            </a:r>
          </a:p>
        </p:txBody>
      </p:sp>
      <p:sp>
        <p:nvSpPr>
          <p:cNvPr id="14" name="">
            <a:extLst xmlns:a="http://schemas.openxmlformats.org/drawingml/2006/main">
              <a:ext uri="{FF2B5EF4-FFF2-40B4-BE49-F238E27FC236}">
                <a16:creationId xmlns:a16="http://schemas.microsoft.com/office/drawing/2014/main" id="{28CFE18A-EC15-4D07-9DD6-7272137D95A8}"/>
              </a:ext>
            </a:extLst>
          </p:cNvPr>
          <p:cNvSpPr>
            <a:spLocks xmlns:a="http://schemas.openxmlformats.org/drawingml/2006/main" noGrp="1"/>
          </p:cNvSpPr>
          <p:nvPr/>
        </p:nvSpPr>
        <p:spPr>
          <a:xfrm xmlns:a="http://schemas.openxmlformats.org/drawingml/2006/main">
            <a:off x="1466850" y="3314700"/>
            <a:ext cx="9677400" cy="47625"/>
          </a:xfrm>
          <a:prstGeom xmlns:a="http://schemas.openxmlformats.org/drawingml/2006/main" prst="rect">
            <a:avLst/>
          </a:prstGeom>
          <a:solidFill xmlns:a="http://schemas.openxmlformats.org/drawingml/2006/main">
            <a:srgbClr val="C8D4D0"/>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15" name="">
            <a:extLst xmlns:a="http://schemas.openxmlformats.org/drawingml/2006/main">
              <a:ext uri="{FF2B5EF4-FFF2-40B4-BE49-F238E27FC236}">
                <a16:creationId xmlns:a16="http://schemas.microsoft.com/office/drawing/2014/main" id="{A965B939-80A1-4FBA-8D36-883AF1445C06}"/>
              </a:ext>
            </a:extLst>
          </p:cNvPr>
          <p:cNvSpPr>
            <a:spLocks xmlns:a="http://schemas.openxmlformats.org/drawingml/2006/main" noGrp="1"/>
          </p:cNvSpPr>
          <p:nvPr/>
        </p:nvSpPr>
        <p:spPr>
          <a:xfrm xmlns:a="http://schemas.openxmlformats.org/drawingml/2006/main">
            <a:off x="723900" y="3543300"/>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C4523C"/>
                </a:solidFill>
                <a:latin typeface="Arial"/>
                <a:ea typeface="Arial"/>
                <a:cs typeface="Arial"/>
              </a:defRPr>
            </a:pPr>
            <a:r>
              <a:rPr sz="1800" b="1" i="0">
                <a:solidFill>
                  <a:srgbClr val="C4523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C00EE1A2-6214-42FA-9E21-95C738873A87}"/>
              </a:ext>
            </a:extLst>
          </p:cNvPr>
          <p:cNvSpPr>
            <a:spLocks xmlns:a="http://schemas.openxmlformats.org/drawingml/2006/main" noGrp="1"/>
          </p:cNvSpPr>
          <p:nvPr/>
        </p:nvSpPr>
        <p:spPr>
          <a:xfrm xmlns:a="http://schemas.openxmlformats.org/drawingml/2006/main">
            <a:off x="1466850" y="3543300"/>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12343B"/>
                </a:solidFill>
                <a:latin typeface="Arial"/>
                <a:ea typeface="Arial"/>
                <a:cs typeface="Arial"/>
              </a:defRPr>
            </a:pPr>
            <a:r>
              <a:rPr sz="1725" b="1" i="0">
                <a:solidFill>
                  <a:srgbClr val="12343B"/>
                </a:solidFill>
                <a:latin typeface="Arial"/>
                <a:ea typeface="Arial"/>
                <a:cs typeface="Arial"/>
              </a:rPr>
              <a:t>Use LinkedIn for professional course tests</a:t>
            </a:r>
          </a:p>
        </p:txBody>
      </p:sp>
      <p:sp>
        <p:nvSpPr>
          <p:cNvPr id="17" name="">
            <a:extLst xmlns:a="http://schemas.openxmlformats.org/drawingml/2006/main">
              <a:ext uri="{FF2B5EF4-FFF2-40B4-BE49-F238E27FC236}">
                <a16:creationId xmlns:a16="http://schemas.microsoft.com/office/drawing/2014/main" id="{E610290E-4744-4600-B110-9507D409A5F7}"/>
              </a:ext>
            </a:extLst>
          </p:cNvPr>
          <p:cNvSpPr>
            <a:spLocks xmlns:a="http://schemas.openxmlformats.org/drawingml/2006/main" noGrp="1"/>
          </p:cNvSpPr>
          <p:nvPr/>
        </p:nvSpPr>
        <p:spPr>
          <a:xfrm xmlns:a="http://schemas.openxmlformats.org/drawingml/2006/main">
            <a:off x="6000750" y="3543300"/>
            <a:ext cx="514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20323D"/>
                </a:solidFill>
                <a:latin typeface="Arial"/>
                <a:ea typeface="Arial"/>
                <a:cs typeface="Arial"/>
              </a:defRPr>
            </a:pPr>
            <a:r>
              <a:rPr sz="1275" b="0" i="0">
                <a:solidFill>
                  <a:srgbClr val="20323D"/>
                </a:solidFill>
                <a:latin typeface="Arial"/>
                <a:ea typeface="Arial"/>
                <a:cs typeface="Arial"/>
              </a:rPr>
              <a:t>C10 has visible Finance, IT / Technology, Data Analyst and Business / Entrepreneur clusters. Give LinkedIn 25% of the first paid test.</a:t>
            </a:r>
          </a:p>
        </p:txBody>
      </p:sp>
      <p:sp>
        <p:nvSpPr>
          <p:cNvPr id="18" name="">
            <a:extLst xmlns:a="http://schemas.openxmlformats.org/drawingml/2006/main">
              <a:ext uri="{FF2B5EF4-FFF2-40B4-BE49-F238E27FC236}">
                <a16:creationId xmlns:a16="http://schemas.microsoft.com/office/drawing/2014/main" id="{ABFCF9F1-3CE5-48BB-815E-E8D4F0D85147}"/>
              </a:ext>
            </a:extLst>
          </p:cNvPr>
          <p:cNvSpPr>
            <a:spLocks xmlns:a="http://schemas.openxmlformats.org/drawingml/2006/main" noGrp="1"/>
          </p:cNvSpPr>
          <p:nvPr/>
        </p:nvSpPr>
        <p:spPr>
          <a:xfrm xmlns:a="http://schemas.openxmlformats.org/drawingml/2006/main">
            <a:off x="1466850" y="4229100"/>
            <a:ext cx="9677400" cy="47625"/>
          </a:xfrm>
          <a:prstGeom xmlns:a="http://schemas.openxmlformats.org/drawingml/2006/main" prst="rect">
            <a:avLst/>
          </a:prstGeom>
          <a:solidFill xmlns:a="http://schemas.openxmlformats.org/drawingml/2006/main">
            <a:srgbClr val="C8D4D0"/>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19" name="">
            <a:extLst xmlns:a="http://schemas.openxmlformats.org/drawingml/2006/main">
              <a:ext uri="{FF2B5EF4-FFF2-40B4-BE49-F238E27FC236}">
                <a16:creationId xmlns:a16="http://schemas.microsoft.com/office/drawing/2014/main" id="{30AEB11A-6D7E-4E45-8182-3B7428DB51C2}"/>
              </a:ext>
            </a:extLst>
          </p:cNvPr>
          <p:cNvSpPr>
            <a:spLocks xmlns:a="http://schemas.openxmlformats.org/drawingml/2006/main" noGrp="1"/>
          </p:cNvSpPr>
          <p:nvPr/>
        </p:nvSpPr>
        <p:spPr>
          <a:xfrm xmlns:a="http://schemas.openxmlformats.org/drawingml/2006/main">
            <a:off x="723900" y="4457700"/>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C4523C"/>
                </a:solidFill>
                <a:latin typeface="Arial"/>
                <a:ea typeface="Arial"/>
                <a:cs typeface="Arial"/>
              </a:defRPr>
            </a:pPr>
            <a:r>
              <a:rPr sz="1800" b="1" i="0">
                <a:solidFill>
                  <a:srgbClr val="C4523C"/>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5273578B-E779-4C5C-9DB6-1BDD4BFB3A57}"/>
              </a:ext>
            </a:extLst>
          </p:cNvPr>
          <p:cNvSpPr>
            <a:spLocks xmlns:a="http://schemas.openxmlformats.org/drawingml/2006/main" noGrp="1"/>
          </p:cNvSpPr>
          <p:nvPr/>
        </p:nvSpPr>
        <p:spPr>
          <a:xfrm xmlns:a="http://schemas.openxmlformats.org/drawingml/2006/main">
            <a:off x="1466850" y="4457700"/>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12343B"/>
                </a:solidFill>
                <a:latin typeface="Arial"/>
                <a:ea typeface="Arial"/>
                <a:cs typeface="Arial"/>
              </a:defRPr>
            </a:pPr>
            <a:r>
              <a:rPr sz="1725" b="1" i="0">
                <a:solidFill>
                  <a:srgbClr val="12343B"/>
                </a:solidFill>
                <a:latin typeface="Arial"/>
                <a:ea typeface="Arial"/>
                <a:cs typeface="Arial"/>
              </a:rPr>
              <a:t>Build the referral loop inside WhatsApp</a:t>
            </a:r>
          </a:p>
        </p:txBody>
      </p:sp>
      <p:sp>
        <p:nvSpPr>
          <p:cNvPr id="21" name="">
            <a:extLst xmlns:a="http://schemas.openxmlformats.org/drawingml/2006/main">
              <a:ext uri="{FF2B5EF4-FFF2-40B4-BE49-F238E27FC236}">
                <a16:creationId xmlns:a16="http://schemas.microsoft.com/office/drawing/2014/main" id="{FDCCED94-7982-421F-80DB-E2E3E9EE09A7}"/>
              </a:ext>
            </a:extLst>
          </p:cNvPr>
          <p:cNvSpPr>
            <a:spLocks xmlns:a="http://schemas.openxmlformats.org/drawingml/2006/main" noGrp="1"/>
          </p:cNvSpPr>
          <p:nvPr/>
        </p:nvSpPr>
        <p:spPr>
          <a:xfrm xmlns:a="http://schemas.openxmlformats.org/drawingml/2006/main">
            <a:off x="6000750" y="4457700"/>
            <a:ext cx="514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20323D"/>
                </a:solidFill>
                <a:latin typeface="Arial"/>
                <a:ea typeface="Arial"/>
                <a:cs typeface="Arial"/>
              </a:defRPr>
            </a:pPr>
            <a:r>
              <a:rPr sz="1275" b="0" i="0">
                <a:solidFill>
                  <a:srgbClr val="20323D"/>
                </a:solidFill>
                <a:latin typeface="Arial"/>
                <a:ea typeface="Arial"/>
                <a:cs typeface="Arial"/>
              </a:rPr>
              <a:t>Referral share is stable but small, while WhatsApp share fell sharply. Give each member a tagged invite link and a clear reason to share.</a:t>
            </a:r>
          </a:p>
        </p:txBody>
      </p:sp>
      <p:sp>
        <p:nvSpPr>
          <p:cNvPr id="22" name="">
            <a:extLst xmlns:a="http://schemas.openxmlformats.org/drawingml/2006/main">
              <a:ext uri="{FF2B5EF4-FFF2-40B4-BE49-F238E27FC236}">
                <a16:creationId xmlns:a16="http://schemas.microsoft.com/office/drawing/2014/main" id="{DE821021-2B81-4E1B-B0C6-55D1C8728167}"/>
              </a:ext>
            </a:extLst>
          </p:cNvPr>
          <p:cNvSpPr>
            <a:spLocks xmlns:a="http://schemas.openxmlformats.org/drawingml/2006/main" noGrp="1"/>
          </p:cNvSpPr>
          <p:nvPr/>
        </p:nvSpPr>
        <p:spPr>
          <a:xfrm xmlns:a="http://schemas.openxmlformats.org/drawingml/2006/main">
            <a:off x="1466850" y="5143500"/>
            <a:ext cx="9677400" cy="47625"/>
          </a:xfrm>
          <a:prstGeom xmlns:a="http://schemas.openxmlformats.org/drawingml/2006/main" prst="rect">
            <a:avLst/>
          </a:prstGeom>
          <a:solidFill xmlns:a="http://schemas.openxmlformats.org/drawingml/2006/main">
            <a:srgbClr val="C8D4D0"/>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23" name="">
            <a:extLst xmlns:a="http://schemas.openxmlformats.org/drawingml/2006/main">
              <a:ext uri="{FF2B5EF4-FFF2-40B4-BE49-F238E27FC236}">
                <a16:creationId xmlns:a16="http://schemas.microsoft.com/office/drawing/2014/main" id="{2DD9D59B-5DE8-45AE-9F3C-BD179EF3B137}"/>
              </a:ext>
            </a:extLst>
          </p:cNvPr>
          <p:cNvSpPr>
            <a:spLocks xmlns:a="http://schemas.openxmlformats.org/drawingml/2006/main" noGrp="1"/>
          </p:cNvSpPr>
          <p:nvPr/>
        </p:nvSpPr>
        <p:spPr>
          <a:xfrm xmlns:a="http://schemas.openxmlformats.org/drawingml/2006/main">
            <a:off x="723900" y="5372100"/>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C4523C"/>
                </a:solidFill>
                <a:latin typeface="Arial"/>
                <a:ea typeface="Arial"/>
                <a:cs typeface="Arial"/>
              </a:defRPr>
            </a:pPr>
            <a:r>
              <a:rPr sz="1800" b="1" i="0">
                <a:solidFill>
                  <a:srgbClr val="C4523C"/>
                </a:solidFill>
                <a:latin typeface="Arial"/>
                <a:ea typeface="Arial"/>
                <a:cs typeface="Arial"/>
              </a:rPr>
              <a:t>05</a:t>
            </a:r>
          </a:p>
        </p:txBody>
      </p:sp>
      <p:sp>
        <p:nvSpPr>
          <p:cNvPr id="24" name="">
            <a:extLst xmlns:a="http://schemas.openxmlformats.org/drawingml/2006/main">
              <a:ext uri="{FF2B5EF4-FFF2-40B4-BE49-F238E27FC236}">
                <a16:creationId xmlns:a16="http://schemas.microsoft.com/office/drawing/2014/main" id="{8DB85671-CD34-45A2-80F3-9051BEADAFE6}"/>
              </a:ext>
            </a:extLst>
          </p:cNvPr>
          <p:cNvSpPr>
            <a:spLocks xmlns:a="http://schemas.openxmlformats.org/drawingml/2006/main" noGrp="1"/>
          </p:cNvSpPr>
          <p:nvPr/>
        </p:nvSpPr>
        <p:spPr>
          <a:xfrm xmlns:a="http://schemas.openxmlformats.org/drawingml/2006/main">
            <a:off x="1466850" y="5372100"/>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12343B"/>
                </a:solidFill>
                <a:latin typeface="Arial"/>
                <a:ea typeface="Arial"/>
                <a:cs typeface="Arial"/>
              </a:defRPr>
            </a:pPr>
            <a:r>
              <a:rPr sz="1725" b="1" i="0">
                <a:solidFill>
                  <a:srgbClr val="12343B"/>
                </a:solidFill>
                <a:latin typeface="Arial"/>
                <a:ea typeface="Arial"/>
                <a:cs typeface="Arial"/>
              </a:rPr>
              <a:t>Lead with course outcomes and test underrepresented roles</a:t>
            </a:r>
          </a:p>
        </p:txBody>
      </p:sp>
      <p:sp>
        <p:nvSpPr>
          <p:cNvPr id="25" name="">
            <a:extLst xmlns:a="http://schemas.openxmlformats.org/drawingml/2006/main">
              <a:ext uri="{FF2B5EF4-FFF2-40B4-BE49-F238E27FC236}">
                <a16:creationId xmlns:a16="http://schemas.microsoft.com/office/drawing/2014/main" id="{D95E620D-FE36-4600-974A-933FEA2AF3F4}"/>
              </a:ext>
            </a:extLst>
          </p:cNvPr>
          <p:cNvSpPr>
            <a:spLocks xmlns:a="http://schemas.openxmlformats.org/drawingml/2006/main" noGrp="1"/>
          </p:cNvSpPr>
          <p:nvPr/>
        </p:nvSpPr>
        <p:spPr>
          <a:xfrm xmlns:a="http://schemas.openxmlformats.org/drawingml/2006/main">
            <a:off x="6000750" y="5372100"/>
            <a:ext cx="514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20323D"/>
                </a:solidFill>
                <a:latin typeface="Arial"/>
                <a:ea typeface="Arial"/>
                <a:cs typeface="Arial"/>
              </a:defRPr>
            </a:pPr>
            <a:r>
              <a:rPr sz="1275" b="0" i="0">
                <a:solidFill>
                  <a:srgbClr val="20323D"/>
                </a:solidFill>
                <a:latin typeface="Arial"/>
                <a:ea typeface="Arial"/>
                <a:cs typeface="Arial"/>
              </a:rPr>
              <a:t>Supply Chain is 6.4% of C10 course demand but only 1.2% of declared operations / supply-chain occupation. Test LinkedIn messaging for procurement, logistics and operations roles.</a:t>
            </a:r>
          </a:p>
        </p:txBody>
      </p:sp>
      <p:sp>
        <p:nvSpPr>
          <p:cNvPr id="26" name="">
            <a:extLst xmlns:a="http://schemas.openxmlformats.org/drawingml/2006/main">
              <a:ext uri="{FF2B5EF4-FFF2-40B4-BE49-F238E27FC236}">
                <a16:creationId xmlns:a16="http://schemas.microsoft.com/office/drawing/2014/main" id="{502CE21C-D1A2-4F61-A008-AA4F0689BA2F}"/>
              </a:ext>
            </a:extLst>
          </p:cNvPr>
          <p:cNvSpPr>
            <a:spLocks xmlns:a="http://schemas.openxmlformats.org/drawingml/2006/main" noGrp="1"/>
          </p:cNvSpPr>
          <p:nvPr/>
        </p:nvSpPr>
        <p:spPr>
          <a:xfrm xmlns:a="http://schemas.openxmlformats.org/drawingml/2006/main">
            <a:off x="1466850" y="6057900"/>
            <a:ext cx="9677400" cy="47625"/>
          </a:xfrm>
          <a:prstGeom xmlns:a="http://schemas.openxmlformats.org/drawingml/2006/main" prst="rect">
            <a:avLst/>
          </a:prstGeom>
          <a:solidFill xmlns:a="http://schemas.openxmlformats.org/drawingml/2006/main">
            <a:srgbClr val="C8D4D0"/>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Tree>
    <p:extLst>
      <p:ext uri="{BB962C8B-B14F-4D97-AF65-F5344CB8AC3E}">
        <p14:creationId xmlns:p14="http://schemas.microsoft.com/office/powerpoint/2010/main" val="2054151700"/>
      </p:ext>
    </p:extLst>
  </p:cSld>
</p:sld>
</file>

<file path=ppt/slides/slide12.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6855937-4E66-469D-97B7-B7C3A26F71B0}"/>
              </a:ext>
            </a:extLst>
          </p:cNvPr>
          <p:cNvSpPr>
            <a:spLocks xmlns:a="http://schemas.openxmlformats.org/drawingml/2006/main" noGrp="1"/>
          </p:cNvSpPr>
          <p:nvPr/>
        </p:nvSpPr>
        <p:spPr>
          <a:xfrm xmlns:a="http://schemas.openxmlformats.org/drawingml/2006/main">
            <a:off x="533400" y="3619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4523C"/>
                </a:solidFill>
                <a:latin typeface="Arial"/>
                <a:ea typeface="Arial"/>
                <a:cs typeface="Arial"/>
              </a:defRPr>
            </a:pPr>
            <a:r>
              <a:rPr sz="975" b="1" i="0">
                <a:solidFill>
                  <a:srgbClr val="C4523C"/>
                </a:solidFill>
                <a:latin typeface="Arial"/>
                <a:ea typeface="Arial"/>
                <a:cs typeface="Arial"/>
              </a:rPr>
              <a:t>ASSUMPTIONS AND EXECUTION</a:t>
            </a:r>
          </a:p>
        </p:txBody>
      </p:sp>
      <p:sp>
        <p:nvSpPr>
          <p:cNvPr id="2" name="">
            <a:extLst xmlns:a="http://schemas.openxmlformats.org/drawingml/2006/main">
              <a:ext uri="{FF2B5EF4-FFF2-40B4-BE49-F238E27FC236}">
                <a16:creationId xmlns:a16="http://schemas.microsoft.com/office/drawing/2014/main" id="{7A8E2FBA-F15E-4BC0-B663-BBD77B76B24D}"/>
              </a:ext>
            </a:extLst>
          </p:cNvPr>
          <p:cNvSpPr>
            <a:spLocks xmlns:a="http://schemas.openxmlformats.org/drawingml/2006/main" noGrp="1"/>
          </p:cNvSpPr>
          <p:nvPr/>
        </p:nvSpPr>
        <p:spPr>
          <a:xfrm xmlns:a="http://schemas.openxmlformats.org/drawingml/2006/main">
            <a:off x="533400" y="6286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2343B"/>
                </a:solidFill>
                <a:latin typeface="Arial"/>
                <a:ea typeface="Arial"/>
                <a:cs typeface="Arial"/>
              </a:defRPr>
            </a:pPr>
            <a:r>
              <a:rPr sz="2700" b="1" i="0">
                <a:solidFill>
                  <a:srgbClr val="12343B"/>
                </a:solidFill>
                <a:latin typeface="Arial"/>
                <a:ea typeface="Arial"/>
                <a:cs typeface="Arial"/>
              </a:rPr>
              <a:t>What the team can do next week</a:t>
            </a:r>
          </a:p>
        </p:txBody>
      </p:sp>
      <p:sp>
        <p:nvSpPr>
          <p:cNvPr id="3" name="">
            <a:extLst xmlns:a="http://schemas.openxmlformats.org/drawingml/2006/main">
              <a:ext uri="{FF2B5EF4-FFF2-40B4-BE49-F238E27FC236}">
                <a16:creationId xmlns:a16="http://schemas.microsoft.com/office/drawing/2014/main" id="{13CF81F1-07E0-44F7-98E3-26C1E985C5F9}"/>
              </a:ext>
            </a:extLst>
          </p:cNvPr>
          <p:cNvSpPr>
            <a:spLocks xmlns:a="http://schemas.openxmlformats.org/drawingml/2006/main" noGrp="1"/>
          </p:cNvSpPr>
          <p:nvPr/>
        </p:nvSpPr>
        <p:spPr>
          <a:xfrm xmlns:a="http://schemas.openxmlformats.org/drawingml/2006/main">
            <a:off x="533400" y="1428750"/>
            <a:ext cx="7239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62216DE4-0DAC-4F79-94E2-0118CBA61A63}"/>
              </a:ext>
            </a:extLst>
          </p:cNvPr>
          <p:cNvSpPr>
            <a:spLocks xmlns:a="http://schemas.openxmlformats.org/drawingml/2006/main" noGrp="1"/>
          </p:cNvSpPr>
          <p:nvPr/>
        </p:nvSpPr>
        <p:spPr>
          <a:xfrm xmlns:a="http://schemas.openxmlformats.org/drawingml/2006/main">
            <a:off x="533400" y="6572250"/>
            <a:ext cx="64770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1D5941B0-4666-4EA6-8104-7A248E45B077}"/>
              </a:ext>
            </a:extLst>
          </p:cNvPr>
          <p:cNvSpPr>
            <a:spLocks xmlns:a="http://schemas.openxmlformats.org/drawingml/2006/main" noGrp="1"/>
          </p:cNvSpPr>
          <p:nvPr/>
        </p:nvSpPr>
        <p:spPr>
          <a:xfrm xmlns:a="http://schemas.openxmlformats.org/drawingml/2006/main">
            <a:off x="1295400" y="65341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i="0">
                <a:solidFill>
                  <a:srgbClr val="61737B"/>
                </a:solidFill>
                <a:latin typeface="Arial"/>
                <a:ea typeface="Arial"/>
                <a:cs typeface="Arial"/>
              </a:defRPr>
            </a:pPr>
            <a:r>
              <a:rPr sz="825" b="0" i="0">
                <a:solidFill>
                  <a:srgbClr val="61737B"/>
                </a:solidFill>
                <a:latin typeface="Arial"/>
                <a:ea typeface="Arial"/>
                <a:cs typeface="Arial"/>
              </a:rPr>
              <a:t>ZION TECH HUB  /  REGISTRATION GROWTH DECISION</a:t>
            </a:r>
          </a:p>
        </p:txBody>
      </p:sp>
      <p:sp>
        <p:nvSpPr>
          <p:cNvPr id="6" name="">
            <a:extLst xmlns:a="http://schemas.openxmlformats.org/drawingml/2006/main">
              <a:ext uri="{FF2B5EF4-FFF2-40B4-BE49-F238E27FC236}">
                <a16:creationId xmlns:a16="http://schemas.microsoft.com/office/drawing/2014/main" id="{8C68D751-EBE3-496D-902A-83F09047A8EC}"/>
              </a:ext>
            </a:extLst>
          </p:cNvPr>
          <p:cNvSpPr>
            <a:spLocks xmlns:a="http://schemas.openxmlformats.org/drawingml/2006/main" noGrp="1"/>
          </p:cNvSpPr>
          <p:nvPr/>
        </p:nvSpPr>
        <p:spPr>
          <a:xfrm xmlns:a="http://schemas.openxmlformats.org/drawingml/2006/main">
            <a:off x="11334750" y="65151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61737B"/>
                </a:solidFill>
                <a:latin typeface="Arial"/>
                <a:ea typeface="Arial"/>
                <a:cs typeface="Arial"/>
              </a:defRPr>
            </a:pPr>
            <a:r>
              <a:rPr sz="900" b="1" i="0">
                <a:solidFill>
                  <a:srgbClr val="61737B"/>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8321615E-2B7E-4777-B747-9E5A107D1F31}"/>
              </a:ext>
            </a:extLst>
          </p:cNvPr>
          <p:cNvSpPr>
            <a:spLocks xmlns:a="http://schemas.openxmlformats.org/drawingml/2006/main" noGrp="1"/>
          </p:cNvSpPr>
          <p:nvPr/>
        </p:nvSpPr>
        <p:spPr>
          <a:xfrm xmlns:a="http://schemas.openxmlformats.org/drawingml/2006/main">
            <a:off x="723900" y="175260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12343B"/>
                </a:solidFill>
                <a:latin typeface="Arial"/>
                <a:ea typeface="Arial"/>
                <a:cs typeface="Arial"/>
              </a:defRPr>
            </a:pPr>
            <a:r>
              <a:rPr sz="1725" b="1" i="0">
                <a:solidFill>
                  <a:srgbClr val="12343B"/>
                </a:solidFill>
                <a:latin typeface="Arial"/>
                <a:ea typeface="Arial"/>
                <a:cs typeface="Arial"/>
              </a:rPr>
              <a:t>Assumptions used</a:t>
            </a:r>
          </a:p>
        </p:txBody>
      </p:sp>
      <p:sp>
        <p:nvSpPr>
          <p:cNvPr id="8" name="">
            <a:extLst xmlns:a="http://schemas.openxmlformats.org/drawingml/2006/main">
              <a:ext uri="{FF2B5EF4-FFF2-40B4-BE49-F238E27FC236}">
                <a16:creationId xmlns:a16="http://schemas.microsoft.com/office/drawing/2014/main" id="{80237FEC-847C-4023-B6DE-8267DE203EBB}"/>
              </a:ext>
            </a:extLst>
          </p:cNvPr>
          <p:cNvSpPr>
            <a:spLocks xmlns:a="http://schemas.openxmlformats.org/drawingml/2006/main" noGrp="1"/>
          </p:cNvSpPr>
          <p:nvPr/>
        </p:nvSpPr>
        <p:spPr>
          <a:xfrm xmlns:a="http://schemas.openxmlformats.org/drawingml/2006/main">
            <a:off x="723900" y="2152650"/>
            <a:ext cx="5143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20323D"/>
                </a:solidFill>
                <a:latin typeface="Arial"/>
                <a:ea typeface="Arial"/>
                <a:cs typeface="Arial"/>
              </a:defRPr>
            </a:pPr>
            <a:r>
              <a:rPr sz="1350" b="0" i="0">
                <a:solidFill>
                  <a:srgbClr val="20323D"/>
                </a:solidFill>
                <a:latin typeface="Arial"/>
                <a:ea typeface="Arial"/>
                <a:cs typeface="Arial"/>
              </a:rPr>
              <a:t>Only Cohorts 9 and 10 were supplied, despite the brief referencing three cohorts.</a:t>
            </a:r>
          </a:p>
          <a:p xmlns:a="http://schemas.openxmlformats.org/drawingml/2006/main">
            <a:pPr>
              <a:defRPr sz="1350" b="0" i="0">
                <a:solidFill>
                  <a:srgbClr val="20323D"/>
                </a:solidFill>
                <a:latin typeface="Arial"/>
                <a:ea typeface="Arial"/>
                <a:cs typeface="Arial"/>
              </a:defRPr>
            </a:pPr>
            <a:r>
              <a:rPr sz="1350" b="0" i="0">
                <a:solidFill>
                  <a:srgbClr val="20323D"/>
                </a:solidFill>
                <a:latin typeface="Arial"/>
                <a:ea typeface="Arial"/>
                <a:cs typeface="Arial"/>
              </a:rPr>
              <a:t>Exact duplicates only were removed. Repeated short email / phone tokens were preserved because they appear truncated or anonymized.</a:t>
            </a:r>
          </a:p>
          <a:p xmlns:a="http://schemas.openxmlformats.org/drawingml/2006/main">
            <a:pPr>
              <a:defRPr sz="1350" b="0" i="0">
                <a:solidFill>
                  <a:srgbClr val="20323D"/>
                </a:solidFill>
                <a:latin typeface="Arial"/>
                <a:ea typeface="Arial"/>
                <a:cs typeface="Arial"/>
              </a:defRPr>
            </a:pPr>
            <a:r>
              <a:rPr sz="1350" b="0" i="0">
                <a:solidFill>
                  <a:srgbClr val="20323D"/>
                </a:solidFill>
                <a:latin typeface="Arial"/>
                <a:ea typeface="Arial"/>
                <a:cs typeface="Arial"/>
              </a:rPr>
              <a:t>Occupation is missing from Cohort 9 and remains unavailable, not zero.</a:t>
            </a:r>
          </a:p>
          <a:p xmlns:a="http://schemas.openxmlformats.org/drawingml/2006/main">
            <a:pPr>
              <a:defRPr sz="1350" b="0" i="0">
                <a:solidFill>
                  <a:srgbClr val="20323D"/>
                </a:solidFill>
                <a:latin typeface="Arial"/>
                <a:ea typeface="Arial"/>
                <a:cs typeface="Arial"/>
              </a:defRPr>
            </a:pPr>
            <a:r>
              <a:rPr sz="1350" b="0" i="0">
                <a:solidFill>
                  <a:srgbClr val="20323D"/>
                </a:solidFill>
                <a:latin typeface="Arial"/>
                <a:ea typeface="Arial"/>
                <a:cs typeface="Arial"/>
              </a:rPr>
              <a:t>Timestamps were parsed as month/day/year, matching both exports.</a:t>
            </a:r>
          </a:p>
          <a:p xmlns:a="http://schemas.openxmlformats.org/drawingml/2006/main">
            <a:pPr>
              <a:defRPr sz="1350" b="0" i="0">
                <a:solidFill>
                  <a:srgbClr val="20323D"/>
                </a:solidFill>
                <a:latin typeface="Arial"/>
                <a:ea typeface="Arial"/>
                <a:cs typeface="Arial"/>
              </a:defRPr>
            </a:pPr>
            <a:r>
              <a:rPr sz="1350" b="0" i="0">
                <a:solidFill>
                  <a:srgbClr val="20323D"/>
                </a:solidFill>
                <a:latin typeface="Arial"/>
                <a:ea typeface="Arial"/>
                <a:cs typeface="Arial"/>
              </a:rPr>
              <a:t>Registrations are the available conversion signal. Payment, spend, CAC and retention are out of scope for this dataset.</a:t>
            </a:r>
          </a:p>
        </p:txBody>
      </p:sp>
      <p:sp>
        <p:nvSpPr>
          <p:cNvPr id="9" name="">
            <a:extLst xmlns:a="http://schemas.openxmlformats.org/drawingml/2006/main">
              <a:ext uri="{FF2B5EF4-FFF2-40B4-BE49-F238E27FC236}">
                <a16:creationId xmlns:a16="http://schemas.microsoft.com/office/drawing/2014/main" id="{E1924E79-AC3D-4F8C-9E40-376E6F86F5D5}"/>
              </a:ext>
            </a:extLst>
          </p:cNvPr>
          <p:cNvSpPr>
            <a:spLocks xmlns:a="http://schemas.openxmlformats.org/drawingml/2006/main" noGrp="1"/>
          </p:cNvSpPr>
          <p:nvPr/>
        </p:nvSpPr>
        <p:spPr>
          <a:xfrm xmlns:a="http://schemas.openxmlformats.org/drawingml/2006/main">
            <a:off x="6610350" y="175260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C4523C"/>
                </a:solidFill>
                <a:latin typeface="Arial"/>
                <a:ea typeface="Arial"/>
                <a:cs typeface="Arial"/>
              </a:defRPr>
            </a:pPr>
            <a:r>
              <a:rPr sz="1725" b="1" i="0">
                <a:solidFill>
                  <a:srgbClr val="C4523C"/>
                </a:solidFill>
                <a:latin typeface="Arial"/>
                <a:ea typeface="Arial"/>
                <a:cs typeface="Arial"/>
              </a:rPr>
              <a:t>Seven-day operating plan</a:t>
            </a:r>
          </a:p>
        </p:txBody>
      </p:sp>
      <p:sp>
        <p:nvSpPr>
          <p:cNvPr id="10" name="">
            <a:extLst xmlns:a="http://schemas.openxmlformats.org/drawingml/2006/main">
              <a:ext uri="{FF2B5EF4-FFF2-40B4-BE49-F238E27FC236}">
                <a16:creationId xmlns:a16="http://schemas.microsoft.com/office/drawing/2014/main" id="{A6908B33-DE17-44DC-9277-C9B9887D5594}"/>
              </a:ext>
            </a:extLst>
          </p:cNvPr>
          <p:cNvSpPr>
            <a:spLocks xmlns:a="http://schemas.openxmlformats.org/drawingml/2006/main" noGrp="1"/>
          </p:cNvSpPr>
          <p:nvPr/>
        </p:nvSpPr>
        <p:spPr>
          <a:xfrm xmlns:a="http://schemas.openxmlformats.org/drawingml/2006/main">
            <a:off x="6610350" y="2152650"/>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20323D"/>
                </a:solidFill>
                <a:latin typeface="Arial"/>
                <a:ea typeface="Arial"/>
                <a:cs typeface="Arial"/>
              </a:defRPr>
            </a:pPr>
            <a:r>
              <a:rPr sz="1350" b="0" i="0">
                <a:solidFill>
                  <a:srgbClr val="20323D"/>
                </a:solidFill>
                <a:latin typeface="Arial"/>
                <a:ea typeface="Arial"/>
                <a:cs typeface="Arial"/>
              </a:rPr>
              <a:t>1. Before launch: add UTM source / medium / campaign, audience, referral code and payment status to the form or CRM.</a:t>
            </a:r>
          </a:p>
          <a:p xmlns:a="http://schemas.openxmlformats.org/drawingml/2006/main">
            <a:pPr>
              <a:defRPr sz="1350" b="0" i="0">
                <a:solidFill>
                  <a:srgbClr val="20323D"/>
                </a:solidFill>
                <a:latin typeface="Arial"/>
                <a:ea typeface="Arial"/>
                <a:cs typeface="Arial"/>
              </a:defRPr>
            </a:pPr>
            <a:r>
              <a:rPr sz="1350" b="0" i="0">
                <a:solidFill>
                  <a:srgbClr val="20323D"/>
                </a:solidFill>
                <a:latin typeface="Arial"/>
                <a:ea typeface="Arial"/>
                <a:cs typeface="Arial"/>
              </a:rPr>
              <a:t>2. Mid-week: publish the X/Twitter and LinkedIn creative tests, then seed the WhatsApp referral message.</a:t>
            </a:r>
          </a:p>
          <a:p xmlns:a="http://schemas.openxmlformats.org/drawingml/2006/main">
            <a:pPr>
              <a:defRPr sz="1350" b="0" i="0">
                <a:solidFill>
                  <a:srgbClr val="20323D"/>
                </a:solidFill>
                <a:latin typeface="Arial"/>
                <a:ea typeface="Arial"/>
                <a:cs typeface="Arial"/>
              </a:defRPr>
            </a:pPr>
            <a:r>
              <a:rPr sz="1350" b="0" i="0">
                <a:solidFill>
                  <a:srgbClr val="20323D"/>
                </a:solidFill>
                <a:latin typeface="Arial"/>
                <a:ea typeface="Arial"/>
                <a:cs typeface="Arial"/>
              </a:rPr>
              <a:t>3. Thursday 17:00–20:00: run the strongest reminder and landing-page CTA.</a:t>
            </a:r>
          </a:p>
          <a:p xmlns:a="http://schemas.openxmlformats.org/drawingml/2006/main">
            <a:pPr>
              <a:defRPr sz="1350" b="0" i="0">
                <a:solidFill>
                  <a:srgbClr val="20323D"/>
                </a:solidFill>
                <a:latin typeface="Arial"/>
                <a:ea typeface="Arial"/>
                <a:cs typeface="Arial"/>
              </a:defRPr>
            </a:pPr>
            <a:r>
              <a:rPr sz="1350" b="0" i="0">
                <a:solidFill>
                  <a:srgbClr val="20323D"/>
                </a:solidFill>
                <a:latin typeface="Arial"/>
                <a:ea typeface="Arial"/>
                <a:cs typeface="Arial"/>
              </a:rPr>
              <a:t>4. Friday 17:00–20:00: run the last-call creative and referral prompt.</a:t>
            </a:r>
          </a:p>
          <a:p xmlns:a="http://schemas.openxmlformats.org/drawingml/2006/main">
            <a:pPr>
              <a:defRPr sz="1350" b="0" i="0">
                <a:solidFill>
                  <a:srgbClr val="20323D"/>
                </a:solidFill>
                <a:latin typeface="Arial"/>
                <a:ea typeface="Arial"/>
                <a:cs typeface="Arial"/>
              </a:defRPr>
            </a:pPr>
            <a:r>
              <a:rPr sz="1350" b="0" i="0">
                <a:solidFill>
                  <a:srgbClr val="20323D"/>
                </a:solidFill>
                <a:latin typeface="Arial"/>
                <a:ea typeface="Arial"/>
                <a:cs typeface="Arial"/>
              </a:rPr>
              <a:t>5. Day 7: compare cost per registration and payment status by channel, audience and course. Move the next tranche toward measured performance.</a:t>
            </a:r>
          </a:p>
        </p:txBody>
      </p:sp>
      <p:sp>
        <p:nvSpPr>
          <p:cNvPr id="11" name="">
            <a:extLst xmlns:a="http://schemas.openxmlformats.org/drawingml/2006/main">
              <a:ext uri="{FF2B5EF4-FFF2-40B4-BE49-F238E27FC236}">
                <a16:creationId xmlns:a16="http://schemas.microsoft.com/office/drawing/2014/main" id="{35070858-44AA-4F71-9860-87AF59A9498F}"/>
              </a:ext>
            </a:extLst>
          </p:cNvPr>
          <p:cNvSpPr>
            <a:spLocks xmlns:a="http://schemas.openxmlformats.org/drawingml/2006/main" noGrp="1"/>
          </p:cNvSpPr>
          <p:nvPr/>
        </p:nvSpPr>
        <p:spPr>
          <a:xfrm xmlns:a="http://schemas.openxmlformats.org/drawingml/2006/main">
            <a:off x="723900" y="5391150"/>
            <a:ext cx="10839450" cy="47625"/>
          </a:xfrm>
          <a:prstGeom xmlns:a="http://schemas.openxmlformats.org/drawingml/2006/main" prst="rect">
            <a:avLst/>
          </a:prstGeom>
          <a:solidFill xmlns:a="http://schemas.openxmlformats.org/drawingml/2006/main">
            <a:srgbClr val="C4523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F70C9EAC-ED26-4287-8F25-F5DC0B783FA7}"/>
              </a:ext>
            </a:extLst>
          </p:cNvPr>
          <p:cNvSpPr>
            <a:spLocks xmlns:a="http://schemas.openxmlformats.org/drawingml/2006/main" noGrp="1"/>
          </p:cNvSpPr>
          <p:nvPr/>
        </p:nvSpPr>
        <p:spPr>
          <a:xfrm xmlns:a="http://schemas.openxmlformats.org/drawingml/2006/main">
            <a:off x="723900" y="56578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12343B"/>
                </a:solidFill>
                <a:latin typeface="Arial"/>
                <a:ea typeface="Arial"/>
                <a:cs typeface="Arial"/>
              </a:defRPr>
            </a:pPr>
            <a:r>
              <a:rPr sz="1875" b="1" i="0">
                <a:solidFill>
                  <a:srgbClr val="12343B"/>
                </a:solidFill>
                <a:latin typeface="Arial"/>
                <a:ea typeface="Arial"/>
                <a:cs typeface="Arial"/>
              </a:rPr>
              <a:t>Decision today: start with X/Twitter, use LinkedIn to find the professional audience, and make every registration attributable.</a:t>
            </a:r>
          </a:p>
        </p:txBody>
      </p:sp>
    </p:spTree>
    <p:extLst>
      <p:ext uri="{BB962C8B-B14F-4D97-AF65-F5344CB8AC3E}">
        <p14:creationId xmlns:p14="http://schemas.microsoft.com/office/powerpoint/2010/main" val="190862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2026-09-17T22:49:30.2940000Z</dcterms:created>
  <dcterms:modified xsi:type="dcterms:W3CDTF">2026-09-17T22:49:30.2940000Z</dcterms:modified>
</coreProperties>
</file>